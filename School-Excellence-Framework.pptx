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6ccad631-1599-e588-d228-8b5054f03123}">
          <p14:sldIdLst>
            <p14:sldId id="256"/>
          </p14:sldIdLst>
        </p14:section>
        <p14:section name="الخريطة المفاهيمية" id="{40561c17-e160-7246-a1ce-e6ade075c2f2}">
          <p14:sldIdLst>
            <p14:sldId id="257"/>
          </p14:sldIdLst>
        </p14:section>
        <p14:section name="المعايير الستة" id="{28f84e95-5ad6-f17c-45a4-05c420f6f77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اللوحة والشواهد" id="{e3866ae9-7f06-b26f-654e-08dfc0692c85}">
          <p14:sldIdLst>
            <p14:sldId id="264"/>
            <p14:sldId id="265"/>
          </p14:sldIdLst>
        </p14:section>
        <p14:section name="الختام" id="{f03b21b6-fdbb-9e3f-87bf-569783711ef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09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دليل التميز في الرقابة والتفتيش المدرسي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دائرة زخرفية 1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" name="دائرة زخرفية 2"/>
          <p:cNvSpPr/>
          <p:nvPr/>
        </p:nvSpPr>
        <p:spPr>
          <a:xfrm>
            <a:off x="8899855" y="374904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شارة الدليل"/>
          <p:cNvSpPr txBox="1"/>
          <p:nvPr/>
        </p:nvSpPr>
        <p:spPr>
          <a:xfrm>
            <a:off x="3261208" y="685800"/>
            <a:ext cx="5669280" cy="457200"/>
          </a:xfrm>
          <a:prstGeom prst="roundRect">
            <a:avLst>
              <a:gd name="adj" fmla="val 50000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</a:ln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دليل شامل لمنظومة تقييم المعلم والقسم العلمي</a:t>
            </a:r>
            <a:endParaRPr lang="ar-AE" sz="1400" dirty="0"/>
          </a:p>
        </p:txBody>
      </p:sp>
      <p:sp>
        <p:nvSpPr>
          <p:cNvPr id="5" name="العنوان الرئيسي"/>
          <p:cNvSpPr txBox="1"/>
          <p:nvPr/>
        </p:nvSpPr>
        <p:spPr>
          <a:xfrm>
            <a:off x="1097280" y="1417320"/>
            <a:ext cx="99971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4000" b="1" dirty="0">
                <a:solidFill>
                  <a:srgbClr val="F59E0B"/>
                </a:solidFill>
              </a:rPr>
              <a:t>إطار التميز المدرسي:</a:t>
            </a:r>
            <a:endParaRPr lang="ar-AE" sz="4000" dirty="0"/>
          </a:p>
          <a:p>
            <a:pPr rtl="1" algn="ctr" indent="0" marL="0">
              <a:buNone/>
            </a:pPr>
            <a:r>
              <a:rPr lang="ar-AE" altLang="en-US" sz="4000" b="1" dirty="0">
                <a:solidFill>
                  <a:srgbClr val="F59E0B"/>
                </a:solidFill>
              </a:rPr>
              <a:t>معايير التفتيش وآليات التقييم الشامل</a:t>
            </a:r>
            <a:endParaRPr lang="ar-AE" sz="4000" dirty="0"/>
          </a:p>
        </p:txBody>
      </p:sp>
      <p:sp>
        <p:nvSpPr>
          <p:cNvPr id="6" name="الوصف"/>
          <p:cNvSpPr txBox="1"/>
          <p:nvPr/>
        </p:nvSpPr>
        <p:spPr>
          <a:xfrm>
            <a:off x="1828800" y="3337560"/>
            <a:ext cx="8534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AE" altLang="en-US" sz="1800" dirty="0">
                <a:solidFill>
                  <a:srgbClr val="CBD5E1"/>
                </a:solidFill>
              </a:rPr>
              <a:t>استراتيجيات عملية متكاملة ونماذج تطبيقية موجهة للمعلمين ورؤساء الأقسام للارتقاء بالأداء إلى درجة </a:t>
            </a:r>
            <a:pPr algn="ctr" indent="0" marL="0">
              <a:buNone/>
            </a:pPr>
            <a:r>
              <a:rPr lang="ar-AE" altLang="en-US" sz="1800" b="1" dirty="0">
                <a:solidFill>
                  <a:srgbClr val="F59E0B"/>
                </a:solidFill>
              </a:rPr>
              <a:t>«متميز» (Outstanding)</a:t>
            </a:r>
            <a:endParaRPr lang="ar-AE" sz="1800" dirty="0"/>
          </a:p>
        </p:txBody>
      </p:sp>
      <p:sp>
        <p:nvSpPr>
          <p:cNvPr id="7" name="بطاقة إنجاز الطلبة"/>
          <p:cNvSpPr/>
          <p:nvPr/>
        </p:nvSpPr>
        <p:spPr>
          <a:xfrm>
            <a:off x="8884768" y="45720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أيقونة إنجاز الطلبة"/>
          <p:cNvSpPr/>
          <p:nvPr/>
        </p:nvSpPr>
        <p:spPr>
          <a:xfrm>
            <a:off x="9799168" y="475488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9" name="أيقونة إنجاز الطلبة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328" y="4892040"/>
            <a:ext cx="274320" cy="274320"/>
          </a:xfrm>
          <a:prstGeom prst="rect">
            <a:avLst/>
          </a:prstGeom>
        </p:spPr>
      </p:pic>
      <p:sp>
        <p:nvSpPr>
          <p:cNvPr id="10" name="نص إنجاز الطلبة"/>
          <p:cNvSpPr txBox="1"/>
          <p:nvPr/>
        </p:nvSpPr>
        <p:spPr>
          <a:xfrm>
            <a:off x="8884768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إنجاز الطلبة</a:t>
            </a:r>
            <a:endParaRPr lang="ar-AE" sz="1500" dirty="0"/>
          </a:p>
        </p:txBody>
      </p:sp>
      <p:sp>
        <p:nvSpPr>
          <p:cNvPr id="11" name="بطاقة جودة التدريس"/>
          <p:cNvSpPr/>
          <p:nvPr/>
        </p:nvSpPr>
        <p:spPr>
          <a:xfrm>
            <a:off x="6233008" y="45720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أيقونة جودة التدريس"/>
          <p:cNvSpPr/>
          <p:nvPr/>
        </p:nvSpPr>
        <p:spPr>
          <a:xfrm>
            <a:off x="7147408" y="475488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أيقونة جودة التدريس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568" y="4892040"/>
            <a:ext cx="274320" cy="274320"/>
          </a:xfrm>
          <a:prstGeom prst="rect">
            <a:avLst/>
          </a:prstGeom>
        </p:spPr>
      </p:pic>
      <p:sp>
        <p:nvSpPr>
          <p:cNvPr id="14" name="نص جودة التدريس"/>
          <p:cNvSpPr txBox="1"/>
          <p:nvPr/>
        </p:nvSpPr>
        <p:spPr>
          <a:xfrm>
            <a:off x="6233008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جودة التدريس</a:t>
            </a:r>
            <a:endParaRPr lang="ar-AE" sz="1500" dirty="0"/>
          </a:p>
        </p:txBody>
      </p:sp>
      <p:sp>
        <p:nvSpPr>
          <p:cNvPr id="15" name="بطاقة المنهاج والقيادة"/>
          <p:cNvSpPr/>
          <p:nvPr/>
        </p:nvSpPr>
        <p:spPr>
          <a:xfrm>
            <a:off x="3581248" y="45720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أيقونة المنهاج والقيادة"/>
          <p:cNvSpPr/>
          <p:nvPr/>
        </p:nvSpPr>
        <p:spPr>
          <a:xfrm>
            <a:off x="4495648" y="475488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أيقونة المنهاج والقيادة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8" y="4892040"/>
            <a:ext cx="274320" cy="274320"/>
          </a:xfrm>
          <a:prstGeom prst="rect">
            <a:avLst/>
          </a:prstGeom>
        </p:spPr>
      </p:pic>
      <p:sp>
        <p:nvSpPr>
          <p:cNvPr id="18" name="نص المنهاج والقيادة"/>
          <p:cNvSpPr txBox="1"/>
          <p:nvPr/>
        </p:nvSpPr>
        <p:spPr>
          <a:xfrm>
            <a:off x="3581248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المنهاج والقيادة</a:t>
            </a:r>
            <a:endParaRPr lang="ar-AE" sz="1500" dirty="0"/>
          </a:p>
        </p:txBody>
      </p:sp>
      <p:sp>
        <p:nvSpPr>
          <p:cNvPr id="19" name="بطاقة جودة الحياة والرفاه"/>
          <p:cNvSpPr/>
          <p:nvPr/>
        </p:nvSpPr>
        <p:spPr>
          <a:xfrm>
            <a:off x="929488" y="45720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أيقونة جودة الحياة والرفاه"/>
          <p:cNvSpPr/>
          <p:nvPr/>
        </p:nvSpPr>
        <p:spPr>
          <a:xfrm>
            <a:off x="1843888" y="475488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21" name="أيقونة جودة الحياة والرفاه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048" y="4892040"/>
            <a:ext cx="274320" cy="274320"/>
          </a:xfrm>
          <a:prstGeom prst="rect">
            <a:avLst/>
          </a:prstGeom>
        </p:spPr>
      </p:pic>
      <p:sp>
        <p:nvSpPr>
          <p:cNvPr id="22" name="نص جودة الحياة والرفاه"/>
          <p:cNvSpPr txBox="1"/>
          <p:nvPr/>
        </p:nvSpPr>
        <p:spPr>
          <a:xfrm>
            <a:off x="929488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جودة الحياة والرفاه</a:t>
            </a:r>
            <a:endParaRPr lang="ar-A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rgbClr val="F8FAFC"/>
                </a:solidFill>
              </a:rPr>
              <a:t>الخريطة المفاهيمية الكبرى لإطار التفتيش والتقييم</a:t>
            </a:r>
            <a:endParaRPr lang="ar-AE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ترابط المحاور الستة بين ممارسات الصف والمنظومة القيادية</a:t>
            </a:r>
            <a:endParaRPr lang="ar-AE" sz="1400" dirty="0"/>
          </a:p>
        </p:txBody>
      </p:sp>
      <p:sp>
        <p:nvSpPr>
          <p:cNvPr id="4" name="أيقونة المحور 1"/>
          <p:cNvSpPr/>
          <p:nvPr/>
        </p:nvSpPr>
        <p:spPr>
          <a:xfrm>
            <a:off x="11094415" y="160020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5" name="أيقونة المحور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1737360"/>
            <a:ext cx="274320" cy="274320"/>
          </a:xfrm>
          <a:prstGeom prst="rect">
            <a:avLst/>
          </a:prstGeom>
        </p:spPr>
      </p:pic>
      <p:sp>
        <p:nvSpPr>
          <p:cNvPr id="6" name="عنوان المحور 1"/>
          <p:cNvSpPr txBox="1"/>
          <p:nvPr/>
        </p:nvSpPr>
        <p:spPr>
          <a:xfrm>
            <a:off x="6248095" y="1600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rgbClr val="F59E0B"/>
                </a:solidFill>
              </a:rPr>
              <a:t>المحور الأول: مخرجات الصف والتعلم المباشر</a:t>
            </a:r>
            <a:endParaRPr lang="ar-AE" sz="1800" dirty="0"/>
          </a:p>
        </p:txBody>
      </p:sp>
      <p:sp>
        <p:nvSpPr>
          <p:cNvPr id="7" name="بند 1"/>
          <p:cNvSpPr txBox="1"/>
          <p:nvPr/>
        </p:nvSpPr>
        <p:spPr>
          <a:xfrm>
            <a:off x="6248095" y="2331720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00" tIns="177800" rIns="889000" bIns="10160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جودة إنجاز الطلبة (Student Achievement)</a:t>
            </a:r>
            <a:endParaRPr lang="ar-AE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CBD5E1"/>
                </a:solidFill>
              </a:rPr>
              <a:t>التحصيل الدراسي والتقدم عبر الزمن مقارنة بالمعايير الوطنية والدولية.</a:t>
            </a:r>
            <a:endParaRPr lang="ar-AE" sz="1500" dirty="0"/>
          </a:p>
        </p:txBody>
      </p:sp>
      <p:sp>
        <p:nvSpPr>
          <p:cNvPr id="8" name="رقم 1"/>
          <p:cNvSpPr txBox="1"/>
          <p:nvPr/>
        </p:nvSpPr>
        <p:spPr>
          <a:xfrm>
            <a:off x="11076127" y="2697480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F59E0B"/>
                </a:solidFill>
              </a:rPr>
              <a:t>1</a:t>
            </a:r>
            <a:endParaRPr lang="ar-AE" sz="1500" dirty="0"/>
          </a:p>
        </p:txBody>
      </p:sp>
      <p:sp>
        <p:nvSpPr>
          <p:cNvPr id="9" name="بند 2"/>
          <p:cNvSpPr txBox="1"/>
          <p:nvPr/>
        </p:nvSpPr>
        <p:spPr>
          <a:xfrm>
            <a:off x="6248095" y="3630168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00" tIns="177800" rIns="889000" bIns="10160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التطور الشخصي والاجتماعي ومهارات الابتكار</a:t>
            </a:r>
            <a:endParaRPr lang="ar-AE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CBD5E1"/>
                </a:solidFill>
              </a:rPr>
              <a:t>السلوك، الهوية الوطنية والإسلامية، المواطنة البيئية والابتكار.</a:t>
            </a:r>
            <a:endParaRPr lang="ar-AE" sz="1500" dirty="0"/>
          </a:p>
        </p:txBody>
      </p:sp>
      <p:sp>
        <p:nvSpPr>
          <p:cNvPr id="10" name="رقم 2"/>
          <p:cNvSpPr txBox="1"/>
          <p:nvPr/>
        </p:nvSpPr>
        <p:spPr>
          <a:xfrm>
            <a:off x="11076127" y="3995928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F59E0B"/>
                </a:solidFill>
              </a:rPr>
              <a:t>2</a:t>
            </a:r>
            <a:endParaRPr lang="ar-AE" sz="1500" dirty="0"/>
          </a:p>
        </p:txBody>
      </p:sp>
      <p:sp>
        <p:nvSpPr>
          <p:cNvPr id="11" name="بند 3"/>
          <p:cNvSpPr txBox="1"/>
          <p:nvPr/>
        </p:nvSpPr>
        <p:spPr>
          <a:xfrm>
            <a:off x="6248095" y="4928616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00" tIns="177800" rIns="889000" bIns="10160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جودة التدريس والتقييم (Teaching &amp; Assessment)</a:t>
            </a:r>
            <a:endParaRPr lang="ar-AE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CBD5E1"/>
                </a:solidFill>
              </a:rPr>
              <a:t>استراتيجيات التدريس، التمايز، والتقييم التكويني المستمر.</a:t>
            </a:r>
            <a:endParaRPr lang="ar-AE" sz="1500" dirty="0"/>
          </a:p>
        </p:txBody>
      </p:sp>
      <p:sp>
        <p:nvSpPr>
          <p:cNvPr id="12" name="رقم 3"/>
          <p:cNvSpPr txBox="1"/>
          <p:nvPr/>
        </p:nvSpPr>
        <p:spPr>
          <a:xfrm>
            <a:off x="11076127" y="5294376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F59E0B"/>
                </a:solidFill>
              </a:rPr>
              <a:t>3</a:t>
            </a:r>
            <a:endParaRPr lang="ar-AE" sz="1500" dirty="0"/>
          </a:p>
        </p:txBody>
      </p:sp>
      <p:sp>
        <p:nvSpPr>
          <p:cNvPr id="13" name="أيقونة المحور 2"/>
          <p:cNvSpPr/>
          <p:nvPr/>
        </p:nvSpPr>
        <p:spPr>
          <a:xfrm>
            <a:off x="5333695" y="1600200"/>
            <a:ext cx="548640" cy="54864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4" name="أيقونة المحور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855" y="1737360"/>
            <a:ext cx="274320" cy="274320"/>
          </a:xfrm>
          <a:prstGeom prst="rect">
            <a:avLst/>
          </a:prstGeom>
        </p:spPr>
      </p:pic>
      <p:sp>
        <p:nvSpPr>
          <p:cNvPr id="15" name="عنوان المحور 2"/>
          <p:cNvSpPr txBox="1"/>
          <p:nvPr/>
        </p:nvSpPr>
        <p:spPr>
          <a:xfrm>
            <a:off x="487375" y="1600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rgbClr val="60A5FA"/>
                </a:solidFill>
              </a:rPr>
              <a:t>المحور الثاني: المنظومة والقيادة والدعم</a:t>
            </a:r>
            <a:endParaRPr lang="ar-AE" sz="1800" dirty="0"/>
          </a:p>
        </p:txBody>
      </p:sp>
      <p:sp>
        <p:nvSpPr>
          <p:cNvPr id="16" name="بند 4"/>
          <p:cNvSpPr txBox="1"/>
          <p:nvPr/>
        </p:nvSpPr>
        <p:spPr>
          <a:xfrm>
            <a:off x="487375" y="2331720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00" tIns="177800" rIns="889000" bIns="10160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تصميم المنهاج وتكييفه (Curriculum Adaptation)</a:t>
            </a:r>
            <a:endParaRPr lang="ar-AE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CBD5E1"/>
                </a:solidFill>
              </a:rPr>
              <a:t>مرونة المنهاج، تلبية احتياجات أصحاب الهمم والموهوبين، والربط الأفقي.</a:t>
            </a:r>
            <a:endParaRPr lang="ar-AE" sz="1500" dirty="0"/>
          </a:p>
        </p:txBody>
      </p:sp>
      <p:sp>
        <p:nvSpPr>
          <p:cNvPr id="17" name="رقم 4"/>
          <p:cNvSpPr txBox="1"/>
          <p:nvPr/>
        </p:nvSpPr>
        <p:spPr>
          <a:xfrm>
            <a:off x="5315407" y="2697480"/>
            <a:ext cx="438912" cy="438912"/>
          </a:xfrm>
          <a:prstGeom prst="ellipse">
            <a:avLst/>
          </a:prstGeom>
          <a:solidFill>
            <a:srgbClr val="60A5FA">
              <a:alpha val="20000"/>
            </a:srgbClr>
          </a:solidFill>
          <a:ln>
            <a:solidFill>
              <a:srgbClr val="60A5F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60A5FA"/>
                </a:solidFill>
              </a:rPr>
              <a:t>4</a:t>
            </a:r>
            <a:endParaRPr lang="ar-AE" sz="1500" dirty="0"/>
          </a:p>
        </p:txBody>
      </p:sp>
      <p:sp>
        <p:nvSpPr>
          <p:cNvPr id="18" name="بند 5"/>
          <p:cNvSpPr txBox="1"/>
          <p:nvPr/>
        </p:nvSpPr>
        <p:spPr>
          <a:xfrm>
            <a:off x="487375" y="3630168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00" tIns="177800" rIns="889000" bIns="10160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حماية الطلبة ورعايتهم ودعمهم (Protection &amp; Support)</a:t>
            </a:r>
            <a:endParaRPr lang="ar-AE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CBD5E1"/>
                </a:solidFill>
              </a:rPr>
              <a:t>البيئة الآمنة، منظومة الشمول (Inclusion)، وجودة الحياة (Wellbeing).</a:t>
            </a:r>
            <a:endParaRPr lang="ar-AE" sz="1500" dirty="0"/>
          </a:p>
        </p:txBody>
      </p:sp>
      <p:sp>
        <p:nvSpPr>
          <p:cNvPr id="19" name="رقم 5"/>
          <p:cNvSpPr txBox="1"/>
          <p:nvPr/>
        </p:nvSpPr>
        <p:spPr>
          <a:xfrm>
            <a:off x="5315407" y="3995928"/>
            <a:ext cx="438912" cy="438912"/>
          </a:xfrm>
          <a:prstGeom prst="ellipse">
            <a:avLst/>
          </a:prstGeom>
          <a:solidFill>
            <a:srgbClr val="60A5FA">
              <a:alpha val="20000"/>
            </a:srgbClr>
          </a:solidFill>
          <a:ln>
            <a:solidFill>
              <a:srgbClr val="60A5F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60A5FA"/>
                </a:solidFill>
              </a:rPr>
              <a:t>5</a:t>
            </a:r>
            <a:endParaRPr lang="ar-AE" sz="1500" dirty="0"/>
          </a:p>
        </p:txBody>
      </p:sp>
      <p:sp>
        <p:nvSpPr>
          <p:cNvPr id="20" name="بند 6"/>
          <p:cNvSpPr txBox="1"/>
          <p:nvPr/>
        </p:nvSpPr>
        <p:spPr>
          <a:xfrm>
            <a:off x="487375" y="4928616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01600" tIns="177800" rIns="889000" bIns="10160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AE" altLang="en-US" sz="1500" b="1" dirty="0">
                <a:solidFill>
                  <a:srgbClr val="F8FAFC"/>
                </a:solidFill>
              </a:rPr>
              <a:t>القيادة والتقييم الذاتي والشراكة (Leadership &amp; SEF)</a:t>
            </a:r>
            <a:endParaRPr lang="ar-AE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AE" altLang="en-US" sz="1200" dirty="0">
                <a:solidFill>
                  <a:srgbClr val="CBD5E1"/>
                </a:solidFill>
              </a:rPr>
              <a:t>التقييم الذاتي الدقيق (SEF)، خطط التطوير (SDP)، والشراكة الأسرية.</a:t>
            </a:r>
            <a:endParaRPr lang="ar-AE" sz="1500" dirty="0"/>
          </a:p>
        </p:txBody>
      </p:sp>
      <p:sp>
        <p:nvSpPr>
          <p:cNvPr id="21" name="رقم 6"/>
          <p:cNvSpPr txBox="1"/>
          <p:nvPr/>
        </p:nvSpPr>
        <p:spPr>
          <a:xfrm>
            <a:off x="5315407" y="5294376"/>
            <a:ext cx="438912" cy="438912"/>
          </a:xfrm>
          <a:prstGeom prst="ellipse">
            <a:avLst/>
          </a:prstGeom>
          <a:solidFill>
            <a:srgbClr val="60A5FA">
              <a:alpha val="20000"/>
            </a:srgbClr>
          </a:solidFill>
          <a:ln>
            <a:solidFill>
              <a:srgbClr val="60A5F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60A5FA"/>
                </a:solidFill>
              </a:rPr>
              <a:t>6</a:t>
            </a:r>
            <a:endParaRPr lang="ar-A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ارة المعيار"/>
          <p:cNvSpPr txBox="1"/>
          <p:nvPr/>
        </p:nvSpPr>
        <p:spPr>
          <a:xfrm>
            <a:off x="10271455" y="4114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المعيار 1</a:t>
            </a:r>
            <a:endParaRPr lang="ar-AE" sz="1600" dirty="0"/>
          </a:p>
        </p:txBody>
      </p:sp>
      <p:sp>
        <p:nvSpPr>
          <p:cNvPr id="3" name="العنوان"/>
          <p:cNvSpPr txBox="1"/>
          <p:nvPr/>
        </p:nvSpPr>
        <p:spPr>
          <a:xfrm>
            <a:off x="548640" y="365760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rgbClr val="F8FAFC"/>
                </a:solidFill>
              </a:rPr>
              <a:t>جودة إنجاز الطلبة (التحصيل والتقدم الدراسي)</a:t>
            </a:r>
            <a:endParaRPr lang="ar-AE" sz="2800" dirty="0"/>
          </a:p>
        </p:txBody>
      </p:sp>
      <p:sp>
        <p:nvSpPr>
          <p:cNvPr id="4" name="وصف المعيار"/>
          <p:cNvSpPr txBox="1"/>
          <p:nvPr/>
        </p:nvSpPr>
        <p:spPr>
          <a:xfrm>
            <a:off x="5790895" y="1188720"/>
            <a:ext cx="5852160" cy="365760"/>
          </a:xfrm>
          <a:prstGeom prst="roundRect">
            <a:avLst>
              <a:gd name="adj" fmla="val 37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مخرجات التعلم والاختبارات الدولية</a:t>
            </a:r>
            <a:endParaRPr lang="ar-AE" sz="1300" dirty="0"/>
          </a:p>
        </p:txBody>
      </p:sp>
      <p:sp>
        <p:nvSpPr>
          <p:cNvPr id="5" name="بطاقة آلية تقييم المعلم (الصف)"/>
          <p:cNvSpPr/>
          <p:nvPr/>
        </p:nvSpPr>
        <p:spPr>
          <a:xfrm>
            <a:off x="811484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أيقونة آلية تقييم المعلم (الصف)"/>
          <p:cNvSpPr/>
          <p:nvPr/>
        </p:nvSpPr>
        <p:spPr>
          <a:xfrm>
            <a:off x="1094948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7" name="أيقونة آلية تقييم المعلم (الصف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3" y="2137410"/>
            <a:ext cx="251460" cy="251460"/>
          </a:xfrm>
          <a:prstGeom prst="rect">
            <a:avLst/>
          </a:prstGeom>
        </p:spPr>
      </p:pic>
      <p:sp>
        <p:nvSpPr>
          <p:cNvPr id="8" name="عنوان آلية تقييم المعلم (الصف)"/>
          <p:cNvSpPr txBox="1"/>
          <p:nvPr/>
        </p:nvSpPr>
        <p:spPr>
          <a:xfrm>
            <a:off x="829772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آلية تقييم المعلم (الصف)</a:t>
            </a:r>
            <a:endParaRPr lang="ar-AE" sz="1600" dirty="0"/>
          </a:p>
        </p:txBody>
      </p:sp>
      <p:sp>
        <p:nvSpPr>
          <p:cNvPr id="9" name="نقاط آلية تقييم المعلم (الصف)"/>
          <p:cNvSpPr txBox="1"/>
          <p:nvPr/>
        </p:nvSpPr>
        <p:spPr>
          <a:xfrm>
            <a:off x="829772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نسبة الإتقان: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تحقيق 75%+ من الطلاب نتائج أعلى من التوقعات بناءً على قدراتهم المرجعية.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تحليل الفجوات: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تتبع دقيق لتقدم كل طالب (خاصة المواطنين وأصحاب الهمم والموهوبين).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التفكير الناقد: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دمج أسئلة التحليل والتنفيذ والمقارنة المباشرة داخل الحصة.</a:t>
            </a:r>
            <a:endParaRPr lang="ar-AE" sz="1600" dirty="0"/>
          </a:p>
        </p:txBody>
      </p:sp>
      <p:sp>
        <p:nvSpPr>
          <p:cNvPr id="10" name="بطاقة آلية تقييم القسم العلمي"/>
          <p:cNvSpPr/>
          <p:nvPr/>
        </p:nvSpPr>
        <p:spPr>
          <a:xfrm>
            <a:off x="432008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أيقونة آلية تقييم القسم العلمي"/>
          <p:cNvSpPr/>
          <p:nvPr/>
        </p:nvSpPr>
        <p:spPr>
          <a:xfrm>
            <a:off x="7154723" y="201168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2" name="أيقونة آلية تقييم القسم العلمي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53" y="2137410"/>
            <a:ext cx="251460" cy="251460"/>
          </a:xfrm>
          <a:prstGeom prst="rect">
            <a:avLst/>
          </a:prstGeom>
        </p:spPr>
      </p:pic>
      <p:sp>
        <p:nvSpPr>
          <p:cNvPr id="13" name="عنوان آلية تقييم القسم العلمي"/>
          <p:cNvSpPr txBox="1"/>
          <p:nvPr/>
        </p:nvSpPr>
        <p:spPr>
          <a:xfrm>
            <a:off x="450296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60A5FA"/>
                </a:solidFill>
              </a:rPr>
              <a:t>آلية تقييم القسم العلمي</a:t>
            </a:r>
            <a:endParaRPr lang="ar-AE" sz="1600" dirty="0"/>
          </a:p>
        </p:txBody>
      </p:sp>
      <p:sp>
        <p:nvSpPr>
          <p:cNvPr id="14" name="نقاط آلية تقييم القسم العلمي"/>
          <p:cNvSpPr txBox="1"/>
          <p:nvPr/>
        </p:nvSpPr>
        <p:spPr>
          <a:xfrm>
            <a:off x="450296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تتبع البيانات عبر الزمن: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مقارنة نتائج القسم عبر 3 سنوات متتالية ومعايرتها بـ (PISA/TIMSS/NGRT).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التكافؤ: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ضمان عدم وجود تفاوت في المخرجات بين المعلمين لنفس الصف.</a:t>
            </a:r>
            <a:endParaRPr lang="ar-AE" sz="1600" dirty="0"/>
          </a:p>
        </p:txBody>
      </p:sp>
      <p:sp>
        <p:nvSpPr>
          <p:cNvPr id="15" name="بطاقة الفيديو"/>
          <p:cNvSpPr/>
          <p:nvPr/>
        </p:nvSpPr>
        <p:spPr>
          <a:xfrm>
            <a:off x="52532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033"/>
          </a:solidFill>
          <a:ln w="19050">
            <a:solidFill>
              <a:srgbClr val="D97706"/>
            </a:solidFill>
            <a:prstDash val="dash"/>
          </a:ln>
        </p:spPr>
      </p:sp>
      <p:sp>
        <p:nvSpPr>
          <p:cNvPr id="16" name="أيقونة الفيديو"/>
          <p:cNvSpPr/>
          <p:nvPr/>
        </p:nvSpPr>
        <p:spPr>
          <a:xfrm>
            <a:off x="335996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أيقونة الفيديو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93" y="2137410"/>
            <a:ext cx="251460" cy="251460"/>
          </a:xfrm>
          <a:prstGeom prst="rect">
            <a:avLst/>
          </a:prstGeom>
        </p:spPr>
      </p:pic>
      <p:sp>
        <p:nvSpPr>
          <p:cNvPr id="18" name="عنوان الفيديو"/>
          <p:cNvSpPr txBox="1"/>
          <p:nvPr/>
        </p:nvSpPr>
        <p:spPr>
          <a:xfrm>
            <a:off x="708203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مقطع شارح مقترح</a:t>
            </a:r>
            <a:endParaRPr lang="ar-AE" sz="1400" dirty="0"/>
          </a:p>
        </p:txBody>
      </p:sp>
      <p:sp>
        <p:nvSpPr>
          <p:cNvPr id="19" name="مدة الفيديو"/>
          <p:cNvSpPr txBox="1"/>
          <p:nvPr/>
        </p:nvSpPr>
        <p:spPr>
          <a:xfrm>
            <a:off x="708203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94A3B8"/>
                </a:solidFill>
              </a:rPr>
              <a:t>المدة: 45 ثانية</a:t>
            </a:r>
            <a:endParaRPr lang="ar-AE" sz="1200" dirty="0"/>
          </a:p>
        </p:txBody>
      </p:sp>
      <p:sp>
        <p:nvSpPr>
          <p:cNvPr id="20" name="وصف الفيديو"/>
          <p:cNvSpPr txBox="1"/>
          <p:nvPr/>
        </p:nvSpPr>
        <p:spPr>
          <a:xfrm>
            <a:off x="708203" y="269748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400" b="1" dirty="0">
                <a:solidFill>
                  <a:srgbClr val="F8FAFC"/>
                </a:solidFill>
              </a:rPr>
              <a:t>حوار معلم وطالب حول تتبع أهداف التقدم الذاتي</a:t>
            </a:r>
            <a:endParaRPr lang="ar-AE" sz="1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يعرض الفيديو كيفية قيام المعلم بتوجيه الطالب لاستخدام سجل البيانات الشخصي لمعرفة مستواه الحالي والمطلوب للوصول لدرجة التميز.</a:t>
            </a:r>
            <a:endParaRPr lang="ar-AE" sz="1400" dirty="0"/>
          </a:p>
        </p:txBody>
      </p:sp>
      <p:sp>
        <p:nvSpPr>
          <p:cNvPr id="21" name="إطار الفيديو"/>
          <p:cNvSpPr/>
          <p:nvPr/>
        </p:nvSpPr>
        <p:spPr>
          <a:xfrm>
            <a:off x="708203" y="475488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زر التشغيل"/>
          <p:cNvSpPr/>
          <p:nvPr/>
        </p:nvSpPr>
        <p:spPr>
          <a:xfrm>
            <a:off x="1965503" y="5212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رمز التشغيل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15" y="537667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6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6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6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build="p"/>
      <p:bldP spid="10" grpId="0" animBg="1"/>
      <p:bldP spid="11" grpId="0" animBg="1"/>
      <p:bldP spid="13" grpId="0" animBg="1"/>
      <p:bldP spid="14" grpId="0" build="p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ارة المعيار"/>
          <p:cNvSpPr txBox="1"/>
          <p:nvPr/>
        </p:nvSpPr>
        <p:spPr>
          <a:xfrm>
            <a:off x="10271455" y="4114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المعيار 2</a:t>
            </a:r>
            <a:endParaRPr lang="ar-AE" sz="1600" dirty="0"/>
          </a:p>
        </p:txBody>
      </p:sp>
      <p:sp>
        <p:nvSpPr>
          <p:cNvPr id="3" name="العنوان"/>
          <p:cNvSpPr txBox="1"/>
          <p:nvPr/>
        </p:nvSpPr>
        <p:spPr>
          <a:xfrm>
            <a:off x="548640" y="365760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rgbClr val="F8FAFC"/>
                </a:solidFill>
              </a:rPr>
              <a:t>التطور الشخصي والاجتماعي ومهارات الابتكار</a:t>
            </a:r>
            <a:endParaRPr lang="ar-AE" sz="2800" dirty="0"/>
          </a:p>
        </p:txBody>
      </p:sp>
      <p:sp>
        <p:nvSpPr>
          <p:cNvPr id="4" name="وصف المعيار"/>
          <p:cNvSpPr txBox="1"/>
          <p:nvPr/>
        </p:nvSpPr>
        <p:spPr>
          <a:xfrm>
            <a:off x="5790895" y="1188720"/>
            <a:ext cx="5852160" cy="365760"/>
          </a:xfrm>
          <a:prstGeom prst="roundRect">
            <a:avLst>
              <a:gd name="adj" fmla="val 37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السلوك، الهوية، والاستدامة</a:t>
            </a:r>
            <a:endParaRPr lang="ar-AE" sz="1300" dirty="0"/>
          </a:p>
        </p:txBody>
      </p:sp>
      <p:sp>
        <p:nvSpPr>
          <p:cNvPr id="5" name="بطاقة آلية تقييم المعلم (الصف)"/>
          <p:cNvSpPr/>
          <p:nvPr/>
        </p:nvSpPr>
        <p:spPr>
          <a:xfrm>
            <a:off x="811484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أيقونة آلية تقييم المعلم (الصف)"/>
          <p:cNvSpPr/>
          <p:nvPr/>
        </p:nvSpPr>
        <p:spPr>
          <a:xfrm>
            <a:off x="1094948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7" name="أيقونة آلية تقييم المعلم (الصف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3" y="2137410"/>
            <a:ext cx="251460" cy="251460"/>
          </a:xfrm>
          <a:prstGeom prst="rect">
            <a:avLst/>
          </a:prstGeom>
        </p:spPr>
      </p:pic>
      <p:sp>
        <p:nvSpPr>
          <p:cNvPr id="8" name="عنوان آلية تقييم المعلم (الصف)"/>
          <p:cNvSpPr txBox="1"/>
          <p:nvPr/>
        </p:nvSpPr>
        <p:spPr>
          <a:xfrm>
            <a:off x="829772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آلية تقييم المعلم (الصف)</a:t>
            </a:r>
            <a:endParaRPr lang="ar-AE" sz="1600" dirty="0"/>
          </a:p>
        </p:txBody>
      </p:sp>
      <p:sp>
        <p:nvSpPr>
          <p:cNvPr id="9" name="نقاط آلية تقييم المعلم (الصف)"/>
          <p:cNvSpPr txBox="1"/>
          <p:nvPr/>
        </p:nvSpPr>
        <p:spPr>
          <a:xfrm>
            <a:off x="829772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الانضباط الذاتي: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بيئة صفية يسودها الاحترام والقيادة الذاتية بدون توبيخ.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ربط الهوية والتراث: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ربط موضوع الدرس بالقيم الإماراتية والثقافة الإسلامية بشكل طبيعي ومصمم.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استقلالية الطالب: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إعطاء مساحة للطلاب لإدارة النقاشات والابتكار والتفكير المستقل.</a:t>
            </a:r>
            <a:endParaRPr lang="ar-AE" sz="1600" dirty="0"/>
          </a:p>
        </p:txBody>
      </p:sp>
      <p:sp>
        <p:nvSpPr>
          <p:cNvPr id="10" name="بطاقة آلية تقييم القسم العلمي"/>
          <p:cNvSpPr/>
          <p:nvPr/>
        </p:nvSpPr>
        <p:spPr>
          <a:xfrm>
            <a:off x="432008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أيقونة آلية تقييم القسم العلمي"/>
          <p:cNvSpPr/>
          <p:nvPr/>
        </p:nvSpPr>
        <p:spPr>
          <a:xfrm>
            <a:off x="7154723" y="201168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2" name="أيقونة آلية تقييم القسم العلمي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53" y="2137410"/>
            <a:ext cx="251460" cy="251460"/>
          </a:xfrm>
          <a:prstGeom prst="rect">
            <a:avLst/>
          </a:prstGeom>
        </p:spPr>
      </p:pic>
      <p:sp>
        <p:nvSpPr>
          <p:cNvPr id="13" name="عنوان آلية تقييم القسم العلمي"/>
          <p:cNvSpPr txBox="1"/>
          <p:nvPr/>
        </p:nvSpPr>
        <p:spPr>
          <a:xfrm>
            <a:off x="450296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60A5FA"/>
                </a:solidFill>
              </a:rPr>
              <a:t>آلية تقييم القسم العلمي</a:t>
            </a:r>
            <a:endParaRPr lang="ar-AE" sz="1600" dirty="0"/>
          </a:p>
        </p:txBody>
      </p:sp>
      <p:sp>
        <p:nvSpPr>
          <p:cNvPr id="14" name="نقاط آلية تقييم القسم العلمي"/>
          <p:cNvSpPr txBox="1"/>
          <p:nvPr/>
        </p:nvSpPr>
        <p:spPr>
          <a:xfrm>
            <a:off x="450296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المشاريع الممتدة: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مبادرات علمية ومجتمعية ترتبط بالاستدامة وحماية البيئة والمواطنة العالمية.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تعزيز السلوك الإيجابي: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توحيد استراتيجيات التعزيز والقيادة بين معلمي القسم.</a:t>
            </a:r>
            <a:endParaRPr lang="ar-AE" sz="1600" dirty="0"/>
          </a:p>
        </p:txBody>
      </p:sp>
      <p:sp>
        <p:nvSpPr>
          <p:cNvPr id="15" name="بطاقة الفيديو"/>
          <p:cNvSpPr/>
          <p:nvPr/>
        </p:nvSpPr>
        <p:spPr>
          <a:xfrm>
            <a:off x="52532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033"/>
          </a:solidFill>
          <a:ln w="19050">
            <a:solidFill>
              <a:srgbClr val="D97706"/>
            </a:solidFill>
            <a:prstDash val="dash"/>
          </a:ln>
        </p:spPr>
      </p:sp>
      <p:sp>
        <p:nvSpPr>
          <p:cNvPr id="16" name="أيقونة الفيديو"/>
          <p:cNvSpPr/>
          <p:nvPr/>
        </p:nvSpPr>
        <p:spPr>
          <a:xfrm>
            <a:off x="335996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أيقونة الفيديو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93" y="2137410"/>
            <a:ext cx="251460" cy="251460"/>
          </a:xfrm>
          <a:prstGeom prst="rect">
            <a:avLst/>
          </a:prstGeom>
        </p:spPr>
      </p:pic>
      <p:sp>
        <p:nvSpPr>
          <p:cNvPr id="18" name="عنوان الفيديو"/>
          <p:cNvSpPr txBox="1"/>
          <p:nvPr/>
        </p:nvSpPr>
        <p:spPr>
          <a:xfrm>
            <a:off x="708203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مقطع شارح مقترح</a:t>
            </a:r>
            <a:endParaRPr lang="ar-AE" sz="1400" dirty="0"/>
          </a:p>
        </p:txBody>
      </p:sp>
      <p:sp>
        <p:nvSpPr>
          <p:cNvPr id="19" name="مدة الفيديو"/>
          <p:cNvSpPr txBox="1"/>
          <p:nvPr/>
        </p:nvSpPr>
        <p:spPr>
          <a:xfrm>
            <a:off x="708203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94A3B8"/>
                </a:solidFill>
              </a:rPr>
              <a:t>المدة: 60 ثانية</a:t>
            </a:r>
            <a:endParaRPr lang="ar-AE" sz="1200" dirty="0"/>
          </a:p>
        </p:txBody>
      </p:sp>
      <p:sp>
        <p:nvSpPr>
          <p:cNvPr id="20" name="وصف الفيديو"/>
          <p:cNvSpPr txBox="1"/>
          <p:nvPr/>
        </p:nvSpPr>
        <p:spPr>
          <a:xfrm>
            <a:off x="708203" y="269748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400" b="1" dirty="0">
                <a:solidFill>
                  <a:srgbClr val="F8FAFC"/>
                </a:solidFill>
              </a:rPr>
              <a:t>مشروع طلابي يربط المادة بالاستدامة ورؤية الإمارات</a:t>
            </a:r>
            <a:endParaRPr lang="ar-AE" sz="1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يعرض نموذجاً لطلاب يقدمون عرضاً توضيحياً لحل مشكلة بيئية محلية باستخدام مفاهيم المادة الدراسية باللغة العربية والإنجليزية.</a:t>
            </a:r>
            <a:endParaRPr lang="ar-AE" sz="1400" dirty="0"/>
          </a:p>
        </p:txBody>
      </p:sp>
      <p:sp>
        <p:nvSpPr>
          <p:cNvPr id="21" name="إطار الفيديو"/>
          <p:cNvSpPr/>
          <p:nvPr/>
        </p:nvSpPr>
        <p:spPr>
          <a:xfrm>
            <a:off x="708203" y="475488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زر التشغيل"/>
          <p:cNvSpPr/>
          <p:nvPr/>
        </p:nvSpPr>
        <p:spPr>
          <a:xfrm>
            <a:off x="1965503" y="5212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رمز التشغيل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15" y="537667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6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6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6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build="p"/>
      <p:bldP spid="10" grpId="0" animBg="1"/>
      <p:bldP spid="11" grpId="0" animBg="1"/>
      <p:bldP spid="13" grpId="0" animBg="1"/>
      <p:bldP spid="14" grpId="0" build="p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ارة المعيار"/>
          <p:cNvSpPr txBox="1"/>
          <p:nvPr/>
        </p:nvSpPr>
        <p:spPr>
          <a:xfrm>
            <a:off x="10271455" y="4114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المعيار 3</a:t>
            </a:r>
            <a:endParaRPr lang="ar-AE" sz="1600" dirty="0"/>
          </a:p>
        </p:txBody>
      </p:sp>
      <p:sp>
        <p:nvSpPr>
          <p:cNvPr id="3" name="العنوان"/>
          <p:cNvSpPr txBox="1"/>
          <p:nvPr/>
        </p:nvSpPr>
        <p:spPr>
          <a:xfrm>
            <a:off x="548640" y="365760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rgbClr val="F8FAFC"/>
                </a:solidFill>
              </a:rPr>
              <a:t>جودة التدريس والتقييم</a:t>
            </a:r>
            <a:endParaRPr lang="ar-AE" sz="2800" dirty="0"/>
          </a:p>
        </p:txBody>
      </p:sp>
      <p:sp>
        <p:nvSpPr>
          <p:cNvPr id="4" name="وصف المعيار"/>
          <p:cNvSpPr txBox="1"/>
          <p:nvPr/>
        </p:nvSpPr>
        <p:spPr>
          <a:xfrm>
            <a:off x="5790895" y="1188720"/>
            <a:ext cx="5852160" cy="365760"/>
          </a:xfrm>
          <a:prstGeom prst="roundRect">
            <a:avLst>
              <a:gd name="adj" fmla="val 37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Teaching &amp; Assessment · التمايز والتغذية الراجعة الفعالة</a:t>
            </a:r>
            <a:endParaRPr lang="ar-AE" sz="1300" dirty="0"/>
          </a:p>
        </p:txBody>
      </p:sp>
      <p:sp>
        <p:nvSpPr>
          <p:cNvPr id="5" name="بطاقة آلية تقييم المعلم (الصف)"/>
          <p:cNvSpPr/>
          <p:nvPr/>
        </p:nvSpPr>
        <p:spPr>
          <a:xfrm>
            <a:off x="811484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أيقونة آلية تقييم المعلم (الصف)"/>
          <p:cNvSpPr/>
          <p:nvPr/>
        </p:nvSpPr>
        <p:spPr>
          <a:xfrm>
            <a:off x="1094948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7" name="أيقونة آلية تقييم المعلم (الصف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3" y="2137410"/>
            <a:ext cx="251460" cy="251460"/>
          </a:xfrm>
          <a:prstGeom prst="rect">
            <a:avLst/>
          </a:prstGeom>
        </p:spPr>
      </p:pic>
      <p:sp>
        <p:nvSpPr>
          <p:cNvPr id="8" name="عنوان آلية تقييم المعلم (الصف)"/>
          <p:cNvSpPr txBox="1"/>
          <p:nvPr/>
        </p:nvSpPr>
        <p:spPr>
          <a:xfrm>
            <a:off x="829772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آلية تقييم المعلم (الصف)</a:t>
            </a:r>
            <a:endParaRPr lang="ar-AE" sz="1600" dirty="0"/>
          </a:p>
        </p:txBody>
      </p:sp>
      <p:sp>
        <p:nvSpPr>
          <p:cNvPr id="9" name="نقاط آلية تقييم المعلم (الصف)"/>
          <p:cNvSpPr txBox="1"/>
          <p:nvPr/>
        </p:nvSpPr>
        <p:spPr>
          <a:xfrm>
            <a:off x="829772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التمايز الحقيقي (Differentiation):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أنشطة متدرجة التحدي تستهدف (الدعم - المتوسط - التحدي/الموهوبين).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التغذية الراجعة النوعية: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ملاحظات مكتوبة وشفهية ترشد الطالب نحو «الخطوة التالية» (Next Steps).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استخدام التكنولوجيا: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توظيف أدوات تفاعلية رقمية تقيس الفهم اللحظي أثناء الدرس.</a:t>
            </a:r>
            <a:endParaRPr lang="ar-AE" sz="1600" dirty="0"/>
          </a:p>
        </p:txBody>
      </p:sp>
      <p:sp>
        <p:nvSpPr>
          <p:cNvPr id="10" name="بطاقة آلية تقييم القسم العلمي"/>
          <p:cNvSpPr/>
          <p:nvPr/>
        </p:nvSpPr>
        <p:spPr>
          <a:xfrm>
            <a:off x="432008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أيقونة آلية تقييم القسم العلمي"/>
          <p:cNvSpPr/>
          <p:nvPr/>
        </p:nvSpPr>
        <p:spPr>
          <a:xfrm>
            <a:off x="7154723" y="201168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2" name="أيقونة آلية تقييم القسم العلمي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53" y="2137410"/>
            <a:ext cx="251460" cy="251460"/>
          </a:xfrm>
          <a:prstGeom prst="rect">
            <a:avLst/>
          </a:prstGeom>
        </p:spPr>
      </p:pic>
      <p:sp>
        <p:nvSpPr>
          <p:cNvPr id="13" name="عنوان آلية تقييم القسم العلمي"/>
          <p:cNvSpPr txBox="1"/>
          <p:nvPr/>
        </p:nvSpPr>
        <p:spPr>
          <a:xfrm>
            <a:off x="450296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60A5FA"/>
                </a:solidFill>
              </a:rPr>
              <a:t>آلية تقييم القسم العلمي</a:t>
            </a:r>
            <a:endParaRPr lang="ar-AE" sz="1600" dirty="0"/>
          </a:p>
        </p:txBody>
      </p:sp>
      <p:sp>
        <p:nvSpPr>
          <p:cNvPr id="14" name="نقاط آلية تقييم القسم العلمي"/>
          <p:cNvSpPr txBox="1"/>
          <p:nvPr/>
        </p:nvSpPr>
        <p:spPr>
          <a:xfrm>
            <a:off x="450296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جلسات تدقيق التقييم (Moderation):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اجتماعات توثيقية لضمان العدالة والاتساق في التصحيح بين معلّمي القسم.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تكامل أساليب التقييم: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توحيد بنوك الأسئلة ومواءمتها مع مستويات بلوم ومهارات التفكير المتقدمة.</a:t>
            </a:r>
            <a:endParaRPr lang="ar-AE" sz="1600" dirty="0"/>
          </a:p>
        </p:txBody>
      </p:sp>
      <p:sp>
        <p:nvSpPr>
          <p:cNvPr id="15" name="بطاقة الفيديو"/>
          <p:cNvSpPr/>
          <p:nvPr/>
        </p:nvSpPr>
        <p:spPr>
          <a:xfrm>
            <a:off x="52532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033"/>
          </a:solidFill>
          <a:ln w="19050">
            <a:solidFill>
              <a:srgbClr val="D97706"/>
            </a:solidFill>
            <a:prstDash val="dash"/>
          </a:ln>
        </p:spPr>
      </p:sp>
      <p:sp>
        <p:nvSpPr>
          <p:cNvPr id="16" name="أيقونة الفيديو"/>
          <p:cNvSpPr/>
          <p:nvPr/>
        </p:nvSpPr>
        <p:spPr>
          <a:xfrm>
            <a:off x="335996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أيقونة الفيديو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93" y="2137410"/>
            <a:ext cx="251460" cy="251460"/>
          </a:xfrm>
          <a:prstGeom prst="rect">
            <a:avLst/>
          </a:prstGeom>
        </p:spPr>
      </p:pic>
      <p:sp>
        <p:nvSpPr>
          <p:cNvPr id="18" name="عنوان الفيديو"/>
          <p:cNvSpPr txBox="1"/>
          <p:nvPr/>
        </p:nvSpPr>
        <p:spPr>
          <a:xfrm>
            <a:off x="708203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مقطع شارح مقترح</a:t>
            </a:r>
            <a:endParaRPr lang="ar-AE" sz="1400" dirty="0"/>
          </a:p>
        </p:txBody>
      </p:sp>
      <p:sp>
        <p:nvSpPr>
          <p:cNvPr id="19" name="مدة الفيديو"/>
          <p:cNvSpPr txBox="1"/>
          <p:nvPr/>
        </p:nvSpPr>
        <p:spPr>
          <a:xfrm>
            <a:off x="708203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94A3B8"/>
                </a:solidFill>
              </a:rPr>
              <a:t>المدة: 50 ثانية</a:t>
            </a:r>
            <a:endParaRPr lang="ar-AE" sz="1200" dirty="0"/>
          </a:p>
        </p:txBody>
      </p:sp>
      <p:sp>
        <p:nvSpPr>
          <p:cNvPr id="20" name="وصف الفيديو"/>
          <p:cNvSpPr txBox="1"/>
          <p:nvPr/>
        </p:nvSpPr>
        <p:spPr>
          <a:xfrm>
            <a:off x="708203" y="269748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400" b="1" dirty="0">
                <a:solidFill>
                  <a:srgbClr val="F8FAFC"/>
                </a:solidFill>
              </a:rPr>
              <a:t>تطبيق التقييم التكويني والتمايز داخل الحصة</a:t>
            </a:r>
            <a:endParaRPr lang="ar-AE" sz="1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نموذج لدرس متكامل يُظهر توزيع المجموعات بحسب التحدي الأكاديمي مع تقديم المعلم لتغذية راجعة فورية ومباشرة.</a:t>
            </a:r>
            <a:endParaRPr lang="ar-AE" sz="1400" dirty="0"/>
          </a:p>
        </p:txBody>
      </p:sp>
      <p:sp>
        <p:nvSpPr>
          <p:cNvPr id="21" name="إطار الفيديو"/>
          <p:cNvSpPr/>
          <p:nvPr/>
        </p:nvSpPr>
        <p:spPr>
          <a:xfrm>
            <a:off x="708203" y="475488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زر التشغيل"/>
          <p:cNvSpPr/>
          <p:nvPr/>
        </p:nvSpPr>
        <p:spPr>
          <a:xfrm>
            <a:off x="1965503" y="5212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رمز التشغيل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15" y="537667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6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6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6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build="p"/>
      <p:bldP spid="10" grpId="0" animBg="1"/>
      <p:bldP spid="11" grpId="0" animBg="1"/>
      <p:bldP spid="13" grpId="0" animBg="1"/>
      <p:bldP spid="14" grpId="0" build="p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ارة المعيار"/>
          <p:cNvSpPr txBox="1"/>
          <p:nvPr/>
        </p:nvSpPr>
        <p:spPr>
          <a:xfrm>
            <a:off x="10271455" y="4114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المعيار 4</a:t>
            </a:r>
            <a:endParaRPr lang="ar-AE" sz="1600" dirty="0"/>
          </a:p>
        </p:txBody>
      </p:sp>
      <p:sp>
        <p:nvSpPr>
          <p:cNvPr id="3" name="العنوان"/>
          <p:cNvSpPr txBox="1"/>
          <p:nvPr/>
        </p:nvSpPr>
        <p:spPr>
          <a:xfrm>
            <a:off x="548640" y="365760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rgbClr val="F8FAFC"/>
                </a:solidFill>
              </a:rPr>
              <a:t>تصميم المنهاج وتكييفه</a:t>
            </a:r>
            <a:endParaRPr lang="ar-AE" sz="2800" dirty="0"/>
          </a:p>
        </p:txBody>
      </p:sp>
      <p:sp>
        <p:nvSpPr>
          <p:cNvPr id="4" name="وصف المعيار"/>
          <p:cNvSpPr txBox="1"/>
          <p:nvPr/>
        </p:nvSpPr>
        <p:spPr>
          <a:xfrm>
            <a:off x="5790895" y="1188720"/>
            <a:ext cx="5852160" cy="365760"/>
          </a:xfrm>
          <a:prstGeom prst="roundRect">
            <a:avLst>
              <a:gd name="adj" fmla="val 37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Curriculum Design &amp; Adaptation · التكييف والمرونة والربط الأفقي</a:t>
            </a:r>
            <a:endParaRPr lang="ar-AE" sz="1300" dirty="0"/>
          </a:p>
        </p:txBody>
      </p:sp>
      <p:sp>
        <p:nvSpPr>
          <p:cNvPr id="5" name="بطاقة آلية تقييم المعلم (الصف)"/>
          <p:cNvSpPr/>
          <p:nvPr/>
        </p:nvSpPr>
        <p:spPr>
          <a:xfrm>
            <a:off x="811484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أيقونة آلية تقييم المعلم (الصف)"/>
          <p:cNvSpPr/>
          <p:nvPr/>
        </p:nvSpPr>
        <p:spPr>
          <a:xfrm>
            <a:off x="1094948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7" name="أيقونة آلية تقييم المعلم (الصف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3" y="2137410"/>
            <a:ext cx="251460" cy="251460"/>
          </a:xfrm>
          <a:prstGeom prst="rect">
            <a:avLst/>
          </a:prstGeom>
        </p:spPr>
      </p:pic>
      <p:sp>
        <p:nvSpPr>
          <p:cNvPr id="8" name="عنوان آلية تقييم المعلم (الصف)"/>
          <p:cNvSpPr txBox="1"/>
          <p:nvPr/>
        </p:nvSpPr>
        <p:spPr>
          <a:xfrm>
            <a:off x="829772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آلية تقييم المعلم (الصف)</a:t>
            </a:r>
            <a:endParaRPr lang="ar-AE" sz="1600" dirty="0"/>
          </a:p>
        </p:txBody>
      </p:sp>
      <p:sp>
        <p:nvSpPr>
          <p:cNvPr id="9" name="نقاط آلية تقييم المعلم (الصف)"/>
          <p:cNvSpPr txBox="1"/>
          <p:nvPr/>
        </p:nvSpPr>
        <p:spPr>
          <a:xfrm>
            <a:off x="829772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التعديل والتكييف الميداني: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القدرة على تعديل محتوى المنهاج الموحد داخل الصف ليلائم القدرات المتفاوتة.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الربط بالحياة والواقع: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صياغة أنشطة ومسائل ترتبط بالواقع والمستجدات العالمية والمهارات العملية.</a:t>
            </a:r>
            <a:endParaRPr lang="ar-AE" sz="1600" dirty="0"/>
          </a:p>
        </p:txBody>
      </p:sp>
      <p:sp>
        <p:nvSpPr>
          <p:cNvPr id="10" name="بطاقة آلية تقييم القسم العلمي"/>
          <p:cNvSpPr/>
          <p:nvPr/>
        </p:nvSpPr>
        <p:spPr>
          <a:xfrm>
            <a:off x="432008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أيقونة آلية تقييم القسم العلمي"/>
          <p:cNvSpPr/>
          <p:nvPr/>
        </p:nvSpPr>
        <p:spPr>
          <a:xfrm>
            <a:off x="7154723" y="201168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2" name="أيقونة آلية تقييم القسم العلمي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53" y="2137410"/>
            <a:ext cx="251460" cy="251460"/>
          </a:xfrm>
          <a:prstGeom prst="rect">
            <a:avLst/>
          </a:prstGeom>
        </p:spPr>
      </p:pic>
      <p:sp>
        <p:nvSpPr>
          <p:cNvPr id="13" name="عنوان آلية تقييم القسم العلمي"/>
          <p:cNvSpPr txBox="1"/>
          <p:nvPr/>
        </p:nvSpPr>
        <p:spPr>
          <a:xfrm>
            <a:off x="450296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60A5FA"/>
                </a:solidFill>
              </a:rPr>
              <a:t>آلية تقييم القسم العلمي</a:t>
            </a:r>
            <a:endParaRPr lang="ar-AE" sz="1600" dirty="0"/>
          </a:p>
        </p:txBody>
      </p:sp>
      <p:sp>
        <p:nvSpPr>
          <p:cNvPr id="14" name="نقاط آلية تقييم القسم العلمي"/>
          <p:cNvSpPr txBox="1"/>
          <p:nvPr/>
        </p:nvSpPr>
        <p:spPr>
          <a:xfrm>
            <a:off x="450296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المراجعة الدورية للمنهاج: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خطة سنوية لتحديث نتاجات التعلم ومواءمتها مع الاختبارات الوطنية والدولية.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تكييف خطط أصحاب الهمم والموهوبين: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توفير أدلة وثائقية لتحديث الخطط التربوية الفردية (IEP/ALN).</a:t>
            </a:r>
            <a:endParaRPr lang="ar-AE" sz="1600" dirty="0"/>
          </a:p>
        </p:txBody>
      </p:sp>
      <p:sp>
        <p:nvSpPr>
          <p:cNvPr id="15" name="بطاقة الفيديو"/>
          <p:cNvSpPr/>
          <p:nvPr/>
        </p:nvSpPr>
        <p:spPr>
          <a:xfrm>
            <a:off x="52532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033"/>
          </a:solidFill>
          <a:ln w="19050">
            <a:solidFill>
              <a:srgbClr val="D97706"/>
            </a:solidFill>
            <a:prstDash val="dash"/>
          </a:ln>
        </p:spPr>
      </p:sp>
      <p:sp>
        <p:nvSpPr>
          <p:cNvPr id="16" name="أيقونة الفيديو"/>
          <p:cNvSpPr/>
          <p:nvPr/>
        </p:nvSpPr>
        <p:spPr>
          <a:xfrm>
            <a:off x="335996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أيقونة الفيديو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93" y="2137410"/>
            <a:ext cx="251460" cy="251460"/>
          </a:xfrm>
          <a:prstGeom prst="rect">
            <a:avLst/>
          </a:prstGeom>
        </p:spPr>
      </p:pic>
      <p:sp>
        <p:nvSpPr>
          <p:cNvPr id="18" name="عنوان الفيديو"/>
          <p:cNvSpPr txBox="1"/>
          <p:nvPr/>
        </p:nvSpPr>
        <p:spPr>
          <a:xfrm>
            <a:off x="708203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مقطع شارح مقترح</a:t>
            </a:r>
            <a:endParaRPr lang="ar-AE" sz="1400" dirty="0"/>
          </a:p>
        </p:txBody>
      </p:sp>
      <p:sp>
        <p:nvSpPr>
          <p:cNvPr id="19" name="مدة الفيديو"/>
          <p:cNvSpPr txBox="1"/>
          <p:nvPr/>
        </p:nvSpPr>
        <p:spPr>
          <a:xfrm>
            <a:off x="708203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94A3B8"/>
                </a:solidFill>
              </a:rPr>
              <a:t>المدة: 40 ثانية</a:t>
            </a:r>
            <a:endParaRPr lang="ar-AE" sz="1200" dirty="0"/>
          </a:p>
        </p:txBody>
      </p:sp>
      <p:sp>
        <p:nvSpPr>
          <p:cNvPr id="20" name="وصف الفيديو"/>
          <p:cNvSpPr txBox="1"/>
          <p:nvPr/>
        </p:nvSpPr>
        <p:spPr>
          <a:xfrm>
            <a:off x="708203" y="269748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400" b="1" dirty="0">
                <a:solidFill>
                  <a:srgbClr val="F8FAFC"/>
                </a:solidFill>
              </a:rPr>
              <a:t>نماذج لتعديل المنهاج لأصحاب الهمم والموهوبين</a:t>
            </a:r>
            <a:endParaRPr lang="ar-AE" sz="1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استعراض سريع لأوراق عمل ومهمات معدلة أعدها القسم تناسب مستويات التحدي المختلفة لنفس الدرس.</a:t>
            </a:r>
            <a:endParaRPr lang="ar-AE" sz="1400" dirty="0"/>
          </a:p>
        </p:txBody>
      </p:sp>
      <p:sp>
        <p:nvSpPr>
          <p:cNvPr id="21" name="إطار الفيديو"/>
          <p:cNvSpPr/>
          <p:nvPr/>
        </p:nvSpPr>
        <p:spPr>
          <a:xfrm>
            <a:off x="708203" y="475488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زر التشغيل"/>
          <p:cNvSpPr/>
          <p:nvPr/>
        </p:nvSpPr>
        <p:spPr>
          <a:xfrm>
            <a:off x="1965503" y="5212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رمز التشغيل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15" y="537667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6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6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build="p"/>
      <p:bldP spid="10" grpId="0" animBg="1"/>
      <p:bldP spid="11" grpId="0" animBg="1"/>
      <p:bldP spid="13" grpId="0" animBg="1"/>
      <p:bldP spid="14" grpId="0" build="p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ارة المعيار"/>
          <p:cNvSpPr txBox="1"/>
          <p:nvPr/>
        </p:nvSpPr>
        <p:spPr>
          <a:xfrm>
            <a:off x="10271455" y="4114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المعيار 5</a:t>
            </a:r>
            <a:endParaRPr lang="ar-AE" sz="1600" dirty="0"/>
          </a:p>
        </p:txBody>
      </p:sp>
      <p:sp>
        <p:nvSpPr>
          <p:cNvPr id="3" name="العنوان"/>
          <p:cNvSpPr txBox="1"/>
          <p:nvPr/>
        </p:nvSpPr>
        <p:spPr>
          <a:xfrm>
            <a:off x="548640" y="365760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rgbClr val="F8FAFC"/>
                </a:solidFill>
              </a:rPr>
              <a:t>حماية الطلبة ورعايتهم ودعمهم</a:t>
            </a:r>
            <a:endParaRPr lang="ar-AE" sz="2800" dirty="0"/>
          </a:p>
        </p:txBody>
      </p:sp>
      <p:sp>
        <p:nvSpPr>
          <p:cNvPr id="4" name="وصف المعيار"/>
          <p:cNvSpPr txBox="1"/>
          <p:nvPr/>
        </p:nvSpPr>
        <p:spPr>
          <a:xfrm>
            <a:off x="5790895" y="1188720"/>
            <a:ext cx="5852160" cy="365760"/>
          </a:xfrm>
          <a:prstGeom prst="roundRect">
            <a:avLst>
              <a:gd name="adj" fmla="val 37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Protection, Care &amp; Support · جودة الحياة والشمول</a:t>
            </a:r>
            <a:endParaRPr lang="ar-AE" sz="1300" dirty="0"/>
          </a:p>
        </p:txBody>
      </p:sp>
      <p:sp>
        <p:nvSpPr>
          <p:cNvPr id="5" name="بطاقة آلية تقييم المعلم (الصف)"/>
          <p:cNvSpPr/>
          <p:nvPr/>
        </p:nvSpPr>
        <p:spPr>
          <a:xfrm>
            <a:off x="811484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أيقونة آلية تقييم المعلم (الصف)"/>
          <p:cNvSpPr/>
          <p:nvPr/>
        </p:nvSpPr>
        <p:spPr>
          <a:xfrm>
            <a:off x="1094948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7" name="أيقونة آلية تقييم المعلم (الصف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3" y="2137410"/>
            <a:ext cx="251460" cy="251460"/>
          </a:xfrm>
          <a:prstGeom prst="rect">
            <a:avLst/>
          </a:prstGeom>
        </p:spPr>
      </p:pic>
      <p:sp>
        <p:nvSpPr>
          <p:cNvPr id="8" name="عنوان آلية تقييم المعلم (الصف)"/>
          <p:cNvSpPr txBox="1"/>
          <p:nvPr/>
        </p:nvSpPr>
        <p:spPr>
          <a:xfrm>
            <a:off x="829772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آلية تقييم المعلم (الصف)</a:t>
            </a:r>
            <a:endParaRPr lang="ar-AE" sz="1600" dirty="0"/>
          </a:p>
        </p:txBody>
      </p:sp>
      <p:sp>
        <p:nvSpPr>
          <p:cNvPr id="9" name="نقاط آلية تقييم المعلم (الصف)"/>
          <p:cNvSpPr txBox="1"/>
          <p:nvPr/>
        </p:nvSpPr>
        <p:spPr>
          <a:xfrm>
            <a:off x="829772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الرعاية النفسية والأكاديمية: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توفير بيئة صفية داعمة خالية من التنمر تشجع على المشاركة بدون خوف من الخطأ.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متابعة الانتظام: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رصد الحضور والغياب وتقديم الدعم المباشر عند تراجع الأداء.</a:t>
            </a:r>
            <a:endParaRPr lang="ar-AE" sz="1600" dirty="0"/>
          </a:p>
        </p:txBody>
      </p:sp>
      <p:sp>
        <p:nvSpPr>
          <p:cNvPr id="10" name="بطاقة آلية تقييم القسم العلمي"/>
          <p:cNvSpPr/>
          <p:nvPr/>
        </p:nvSpPr>
        <p:spPr>
          <a:xfrm>
            <a:off x="432008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أيقونة آلية تقييم القسم العلمي"/>
          <p:cNvSpPr/>
          <p:nvPr/>
        </p:nvSpPr>
        <p:spPr>
          <a:xfrm>
            <a:off x="7154723" y="201168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2" name="أيقونة آلية تقييم القسم العلمي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53" y="2137410"/>
            <a:ext cx="251460" cy="251460"/>
          </a:xfrm>
          <a:prstGeom prst="rect">
            <a:avLst/>
          </a:prstGeom>
        </p:spPr>
      </p:pic>
      <p:sp>
        <p:nvSpPr>
          <p:cNvPr id="13" name="عنوان آلية تقييم القسم العلمي"/>
          <p:cNvSpPr txBox="1"/>
          <p:nvPr/>
        </p:nvSpPr>
        <p:spPr>
          <a:xfrm>
            <a:off x="450296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60A5FA"/>
                </a:solidFill>
              </a:rPr>
              <a:t>آلية تقييم القسم العلمي</a:t>
            </a:r>
            <a:endParaRPr lang="ar-AE" sz="1600" dirty="0"/>
          </a:p>
        </p:txBody>
      </p:sp>
      <p:sp>
        <p:nvSpPr>
          <p:cNvPr id="14" name="نقاط آلية تقييم القسم العلمي"/>
          <p:cNvSpPr txBox="1"/>
          <p:nvPr/>
        </p:nvSpPr>
        <p:spPr>
          <a:xfrm>
            <a:off x="450296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التعاون مع قسم الشمول (Inclusion):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تتبع الخطط الفردية وسجلات دعم أصحاب الهمم والموهوبين.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أنشطة جودة الحياة (Wellbeing):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دمج مبادرات الرفاهية والصحة النفسية داخل أنشطة المادة.</a:t>
            </a:r>
            <a:endParaRPr lang="ar-AE" sz="1600" dirty="0"/>
          </a:p>
        </p:txBody>
      </p:sp>
      <p:sp>
        <p:nvSpPr>
          <p:cNvPr id="15" name="بطاقة الفيديو"/>
          <p:cNvSpPr/>
          <p:nvPr/>
        </p:nvSpPr>
        <p:spPr>
          <a:xfrm>
            <a:off x="52532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033"/>
          </a:solidFill>
          <a:ln w="19050">
            <a:solidFill>
              <a:srgbClr val="D97706"/>
            </a:solidFill>
            <a:prstDash val="dash"/>
          </a:ln>
        </p:spPr>
      </p:sp>
      <p:sp>
        <p:nvSpPr>
          <p:cNvPr id="16" name="أيقونة الفيديو"/>
          <p:cNvSpPr/>
          <p:nvPr/>
        </p:nvSpPr>
        <p:spPr>
          <a:xfrm>
            <a:off x="335996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أيقونة الفيديو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93" y="2137410"/>
            <a:ext cx="251460" cy="251460"/>
          </a:xfrm>
          <a:prstGeom prst="rect">
            <a:avLst/>
          </a:prstGeom>
        </p:spPr>
      </p:pic>
      <p:sp>
        <p:nvSpPr>
          <p:cNvPr id="18" name="عنوان الفيديو"/>
          <p:cNvSpPr txBox="1"/>
          <p:nvPr/>
        </p:nvSpPr>
        <p:spPr>
          <a:xfrm>
            <a:off x="708203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مقطع شارح مقترح</a:t>
            </a:r>
            <a:endParaRPr lang="ar-AE" sz="1400" dirty="0"/>
          </a:p>
        </p:txBody>
      </p:sp>
      <p:sp>
        <p:nvSpPr>
          <p:cNvPr id="19" name="مدة الفيديو"/>
          <p:cNvSpPr txBox="1"/>
          <p:nvPr/>
        </p:nvSpPr>
        <p:spPr>
          <a:xfrm>
            <a:off x="708203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94A3B8"/>
                </a:solidFill>
              </a:rPr>
              <a:t>المدة: 45 ثانية</a:t>
            </a:r>
            <a:endParaRPr lang="ar-AE" sz="1200" dirty="0"/>
          </a:p>
        </p:txBody>
      </p:sp>
      <p:sp>
        <p:nvSpPr>
          <p:cNvPr id="20" name="وصف الفيديو"/>
          <p:cNvSpPr txBox="1"/>
          <p:nvPr/>
        </p:nvSpPr>
        <p:spPr>
          <a:xfrm>
            <a:off x="708203" y="269748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400" b="1" dirty="0">
                <a:solidFill>
                  <a:srgbClr val="F8FAFC"/>
                </a:solidFill>
              </a:rPr>
              <a:t>استراتيجيات دعم جودة الحياة والبيئة الآمنة</a:t>
            </a:r>
            <a:endParaRPr lang="ar-AE" sz="1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مشهد يوضح احتواء معلم لطالب يواجه صعوبة أثناء الدرس وإعادة بناء ثقته بنفسه أمام زملائه.</a:t>
            </a:r>
            <a:endParaRPr lang="ar-AE" sz="1400" dirty="0"/>
          </a:p>
        </p:txBody>
      </p:sp>
      <p:sp>
        <p:nvSpPr>
          <p:cNvPr id="21" name="إطار الفيديو"/>
          <p:cNvSpPr/>
          <p:nvPr/>
        </p:nvSpPr>
        <p:spPr>
          <a:xfrm>
            <a:off x="708203" y="475488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زر التشغيل"/>
          <p:cNvSpPr/>
          <p:nvPr/>
        </p:nvSpPr>
        <p:spPr>
          <a:xfrm>
            <a:off x="1965503" y="5212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رمز التشغيل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15" y="537667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6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6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build="p"/>
      <p:bldP spid="10" grpId="0" animBg="1"/>
      <p:bldP spid="11" grpId="0" animBg="1"/>
      <p:bldP spid="13" grpId="0" animBg="1"/>
      <p:bldP spid="14" grpId="0" build="p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ارة المعيار"/>
          <p:cNvSpPr txBox="1"/>
          <p:nvPr/>
        </p:nvSpPr>
        <p:spPr>
          <a:xfrm>
            <a:off x="10271455" y="4114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المعيار 6</a:t>
            </a:r>
            <a:endParaRPr lang="ar-AE" sz="1600" dirty="0"/>
          </a:p>
        </p:txBody>
      </p:sp>
      <p:sp>
        <p:nvSpPr>
          <p:cNvPr id="3" name="العنوان"/>
          <p:cNvSpPr txBox="1"/>
          <p:nvPr/>
        </p:nvSpPr>
        <p:spPr>
          <a:xfrm>
            <a:off x="548640" y="365760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rgbClr val="F8FAFC"/>
                </a:solidFill>
              </a:rPr>
              <a:t>القيادة والتقييم الذاتي والشراكة</a:t>
            </a:r>
            <a:endParaRPr lang="ar-AE" sz="2800" dirty="0"/>
          </a:p>
        </p:txBody>
      </p:sp>
      <p:sp>
        <p:nvSpPr>
          <p:cNvPr id="4" name="وصف المعيار"/>
          <p:cNvSpPr txBox="1"/>
          <p:nvPr/>
        </p:nvSpPr>
        <p:spPr>
          <a:xfrm>
            <a:off x="5790895" y="1188720"/>
            <a:ext cx="5852160" cy="365760"/>
          </a:xfrm>
          <a:prstGeom prst="roundRect">
            <a:avLst>
              <a:gd name="adj" fmla="val 37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Leadership &amp; Governance · التقييم الذاتي وخطة التطوير (SEF &amp; SDP)</a:t>
            </a:r>
            <a:endParaRPr lang="ar-AE" sz="1300" dirty="0"/>
          </a:p>
        </p:txBody>
      </p:sp>
      <p:sp>
        <p:nvSpPr>
          <p:cNvPr id="5" name="بطاقة آلية تقييم المعلم (الصف)"/>
          <p:cNvSpPr/>
          <p:nvPr/>
        </p:nvSpPr>
        <p:spPr>
          <a:xfrm>
            <a:off x="811484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أيقونة آلية تقييم المعلم (الصف)"/>
          <p:cNvSpPr/>
          <p:nvPr/>
        </p:nvSpPr>
        <p:spPr>
          <a:xfrm>
            <a:off x="1094948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7" name="أيقونة آلية تقييم المعلم (الصف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3" y="2137410"/>
            <a:ext cx="251460" cy="251460"/>
          </a:xfrm>
          <a:prstGeom prst="rect">
            <a:avLst/>
          </a:prstGeom>
        </p:spPr>
      </p:pic>
      <p:sp>
        <p:nvSpPr>
          <p:cNvPr id="8" name="عنوان آلية تقييم المعلم (الصف)"/>
          <p:cNvSpPr txBox="1"/>
          <p:nvPr/>
        </p:nvSpPr>
        <p:spPr>
          <a:xfrm>
            <a:off x="829772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آلية تقييم المعلم (الصف)</a:t>
            </a:r>
            <a:endParaRPr lang="ar-AE" sz="1600" dirty="0"/>
          </a:p>
        </p:txBody>
      </p:sp>
      <p:sp>
        <p:nvSpPr>
          <p:cNvPr id="9" name="نقاط آلية تقييم المعلم (الصف)"/>
          <p:cNvSpPr txBox="1"/>
          <p:nvPr/>
        </p:nvSpPr>
        <p:spPr>
          <a:xfrm>
            <a:off x="829772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التطوير المهني الذاتي: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الحرص على حضور ورش العمل وتطبيق الممارسات الحديثة بالصف.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F59E0B"/>
                </a:solidFill>
              </a:rPr>
              <a:t>التواصل مع أولياء الأمور: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إحاطة أولياء الأمور بتقدم أبنائهم بانتظام وشغف.</a:t>
            </a:r>
            <a:endParaRPr lang="ar-AE" sz="1600" dirty="0"/>
          </a:p>
        </p:txBody>
      </p:sp>
      <p:sp>
        <p:nvSpPr>
          <p:cNvPr id="10" name="بطاقة آلية تقييم القسم العلمي"/>
          <p:cNvSpPr/>
          <p:nvPr/>
        </p:nvSpPr>
        <p:spPr>
          <a:xfrm>
            <a:off x="432008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أيقونة آلية تقييم القسم العلمي"/>
          <p:cNvSpPr/>
          <p:nvPr/>
        </p:nvSpPr>
        <p:spPr>
          <a:xfrm>
            <a:off x="7154723" y="201168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2" name="أيقونة آلية تقييم القسم العلمي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53" y="2137410"/>
            <a:ext cx="251460" cy="251460"/>
          </a:xfrm>
          <a:prstGeom prst="rect">
            <a:avLst/>
          </a:prstGeom>
        </p:spPr>
      </p:pic>
      <p:sp>
        <p:nvSpPr>
          <p:cNvPr id="13" name="عنوان آلية تقييم القسم العلمي"/>
          <p:cNvSpPr txBox="1"/>
          <p:nvPr/>
        </p:nvSpPr>
        <p:spPr>
          <a:xfrm>
            <a:off x="4502963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60A5FA"/>
                </a:solidFill>
              </a:rPr>
              <a:t>آلية تقييم القسم العلمي</a:t>
            </a:r>
            <a:endParaRPr lang="ar-AE" sz="1600" dirty="0"/>
          </a:p>
        </p:txBody>
      </p:sp>
      <p:sp>
        <p:nvSpPr>
          <p:cNvPr id="14" name="نقاط آلية تقييم القسم العلمي"/>
          <p:cNvSpPr txBox="1"/>
          <p:nvPr/>
        </p:nvSpPr>
        <p:spPr>
          <a:xfrm>
            <a:off x="4502963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دقة التقييم الذاتي (SEF):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معرفة نقاط القوة والتطوير بناءً على أدلة وشواهد واقعية وموثقة.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خطة التطوير (SDP):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أهداف SMART محددة وقابلة للقياس ترتبط بتوصيات التفتيش السابقة.</a:t>
            </a:r>
            <a:endParaRPr lang="ar-AE" sz="1600" dirty="0"/>
          </a:p>
          <a:p>
            <a:pPr algn="r" marL="177800" indent="-177800">
              <a:spcAft>
                <a:spcPts val="1400"/>
              </a:spcAft>
              <a:buSzPct val="100000"/>
              <a:buChar char="•"/>
            </a:pPr>
            <a:r>
              <a:rPr lang="ar-AE" altLang="en-US" sz="1600" b="1" dirty="0">
                <a:solidFill>
                  <a:srgbClr val="60A5FA"/>
                </a:solidFill>
              </a:rPr>
              <a:t>الملاحظة الصفية: </a:t>
            </a:r>
            <a:pPr algn="r" indent="0" marL="0">
              <a:spcAft>
                <a:spcPts val="1400"/>
              </a:spcAft>
              <a:buNone/>
            </a:pPr>
            <a:r>
              <a:rPr lang="ar-AE" altLang="en-US" sz="1600" dirty="0">
                <a:solidFill>
                  <a:srgbClr val="CBD5E1"/>
                </a:solidFill>
              </a:rPr>
              <a:t>تقديم تغذية راجعة تدريبية للمعلمين لتطوير الممارسات الصفية.</a:t>
            </a:r>
            <a:endParaRPr lang="ar-AE" sz="1600" dirty="0"/>
          </a:p>
        </p:txBody>
      </p:sp>
      <p:sp>
        <p:nvSpPr>
          <p:cNvPr id="15" name="بطاقة الفيديو"/>
          <p:cNvSpPr/>
          <p:nvPr/>
        </p:nvSpPr>
        <p:spPr>
          <a:xfrm>
            <a:off x="525323" y="182880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033"/>
          </a:solidFill>
          <a:ln w="19050">
            <a:solidFill>
              <a:srgbClr val="D97706"/>
            </a:solidFill>
            <a:prstDash val="dash"/>
          </a:ln>
        </p:spPr>
      </p:sp>
      <p:sp>
        <p:nvSpPr>
          <p:cNvPr id="16" name="أيقونة الفيديو"/>
          <p:cNvSpPr/>
          <p:nvPr/>
        </p:nvSpPr>
        <p:spPr>
          <a:xfrm>
            <a:off x="3359963" y="20116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7" name="أيقونة الفيديو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93" y="2137410"/>
            <a:ext cx="251460" cy="251460"/>
          </a:xfrm>
          <a:prstGeom prst="rect">
            <a:avLst/>
          </a:prstGeom>
        </p:spPr>
      </p:pic>
      <p:sp>
        <p:nvSpPr>
          <p:cNvPr id="18" name="عنوان الفيديو"/>
          <p:cNvSpPr txBox="1"/>
          <p:nvPr/>
        </p:nvSpPr>
        <p:spPr>
          <a:xfrm>
            <a:off x="708203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مقطع شارح مقترح</a:t>
            </a:r>
            <a:endParaRPr lang="ar-AE" sz="1400" dirty="0"/>
          </a:p>
        </p:txBody>
      </p:sp>
      <p:sp>
        <p:nvSpPr>
          <p:cNvPr id="19" name="مدة الفيديو"/>
          <p:cNvSpPr txBox="1"/>
          <p:nvPr/>
        </p:nvSpPr>
        <p:spPr>
          <a:xfrm>
            <a:off x="708203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rgbClr val="94A3B8"/>
                </a:solidFill>
              </a:rPr>
              <a:t>المدة: 60 ثانية</a:t>
            </a:r>
            <a:endParaRPr lang="ar-AE" sz="1200" dirty="0"/>
          </a:p>
        </p:txBody>
      </p:sp>
      <p:sp>
        <p:nvSpPr>
          <p:cNvPr id="20" name="وصف الفيديو"/>
          <p:cNvSpPr txBox="1"/>
          <p:nvPr/>
        </p:nvSpPr>
        <p:spPr>
          <a:xfrm>
            <a:off x="708203" y="269748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400" b="1" dirty="0">
                <a:solidFill>
                  <a:srgbClr val="F8FAFC"/>
                </a:solidFill>
              </a:rPr>
              <a:t>جلسة تقييم ذاتي وتحليل نتائج مع معلمي القسم</a:t>
            </a:r>
            <a:endParaRPr lang="ar-AE" sz="1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حوار بين رئيس القسم والمعلمين لمناقشة نتائج الاختبارات وتحديد الخطوات التصحيحية المطلوبة للربع القادم.</a:t>
            </a:r>
            <a:endParaRPr lang="ar-AE" sz="1400" dirty="0"/>
          </a:p>
        </p:txBody>
      </p:sp>
      <p:sp>
        <p:nvSpPr>
          <p:cNvPr id="21" name="إطار الفيديو"/>
          <p:cNvSpPr/>
          <p:nvPr/>
        </p:nvSpPr>
        <p:spPr>
          <a:xfrm>
            <a:off x="708203" y="475488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زر التشغيل"/>
          <p:cNvSpPr/>
          <p:nvPr/>
        </p:nvSpPr>
        <p:spPr>
          <a:xfrm>
            <a:off x="1965503" y="5212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رمز التشغيل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15" y="537667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6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6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6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build="p"/>
      <p:bldP spid="10" grpId="0" animBg="1"/>
      <p:bldP spid="11" grpId="0" animBg="1"/>
      <p:bldP spid="13" grpId="0" animBg="1"/>
      <p:bldP spid="14" grpId="0" build="p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rgbClr val="F8FAFC"/>
                </a:solidFill>
              </a:rPr>
              <a:t>لوحة مؤشرات أداء المعلم المتميز (Teacher Dashboard)</a:t>
            </a:r>
            <a:endParaRPr lang="ar-AE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ما يبحث عنه المقيم والمفتش أثناء الزيارة الصفية</a:t>
            </a:r>
            <a:endParaRPr lang="ar-AE" sz="1400" dirty="0"/>
          </a:p>
        </p:txBody>
      </p:sp>
      <p:sp>
        <p:nvSpPr>
          <p:cNvPr id="4" name="بطاقة 1"/>
          <p:cNvSpPr/>
          <p:nvPr/>
        </p:nvSpPr>
        <p:spPr>
          <a:xfrm>
            <a:off x="9031072" y="178308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أيقونة 1"/>
          <p:cNvSpPr/>
          <p:nvPr/>
        </p:nvSpPr>
        <p:spPr>
          <a:xfrm>
            <a:off x="10905592" y="201168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6" name="أيقونة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752" y="2148840"/>
            <a:ext cx="274320" cy="274320"/>
          </a:xfrm>
          <a:prstGeom prst="rect">
            <a:avLst/>
          </a:prstGeom>
        </p:spPr>
      </p:pic>
      <p:sp>
        <p:nvSpPr>
          <p:cNvPr id="7" name="تصنيف 1"/>
          <p:cNvSpPr txBox="1"/>
          <p:nvPr/>
        </p:nvSpPr>
        <p:spPr>
          <a:xfrm>
            <a:off x="9213952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F59E0B"/>
                </a:solidFill>
              </a:rPr>
              <a:t>01. التخطيط والتحضير</a:t>
            </a:r>
            <a:endParaRPr lang="ar-AE" sz="1400" dirty="0"/>
          </a:p>
        </p:txBody>
      </p:sp>
      <p:sp>
        <p:nvSpPr>
          <p:cNvPr id="8" name="نص 1"/>
          <p:cNvSpPr txBox="1"/>
          <p:nvPr/>
        </p:nvSpPr>
        <p:spPr>
          <a:xfrm>
            <a:off x="9213952" y="27889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AE" altLang="en-US" sz="1600" b="1" dirty="0">
                <a:solidFill>
                  <a:srgbClr val="F8FAFC"/>
                </a:solidFill>
              </a:rPr>
              <a:t>خطة درس واضحة وتفاعلية</a:t>
            </a:r>
            <a:endParaRPr lang="ar-AE" sz="16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أهداف صريحة مقترنة بمعايير النجاح، تمايز مدروس، وتقييم تكويني ذكي.</a:t>
            </a:r>
            <a:endParaRPr lang="ar-AE" sz="1600" dirty="0"/>
          </a:p>
        </p:txBody>
      </p:sp>
      <p:sp>
        <p:nvSpPr>
          <p:cNvPr id="9" name="نسبة 1"/>
          <p:cNvSpPr txBox="1"/>
          <p:nvPr/>
        </p:nvSpPr>
        <p:spPr>
          <a:xfrm>
            <a:off x="9213952" y="4663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rgbClr val="F59E0B"/>
                </a:solidFill>
              </a:rPr>
              <a:t>95%</a:t>
            </a:r>
            <a:endParaRPr lang="ar-AE" sz="3600" dirty="0"/>
          </a:p>
        </p:txBody>
      </p:sp>
      <p:sp>
        <p:nvSpPr>
          <p:cNvPr id="10" name="مسار 1"/>
          <p:cNvSpPr/>
          <p:nvPr/>
        </p:nvSpPr>
        <p:spPr>
          <a:xfrm>
            <a:off x="9213952" y="5486400"/>
            <a:ext cx="2240280" cy="14630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شريط 1"/>
          <p:cNvSpPr/>
          <p:nvPr/>
        </p:nvSpPr>
        <p:spPr>
          <a:xfrm>
            <a:off x="9325966" y="5486400"/>
            <a:ext cx="2128266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بطاقة 2"/>
          <p:cNvSpPr/>
          <p:nvPr/>
        </p:nvSpPr>
        <p:spPr>
          <a:xfrm>
            <a:off x="6205576" y="178308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أيقونة 2"/>
          <p:cNvSpPr/>
          <p:nvPr/>
        </p:nvSpPr>
        <p:spPr>
          <a:xfrm>
            <a:off x="8080096" y="2011680"/>
            <a:ext cx="548640" cy="54864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4" name="أيقونة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56" y="2148840"/>
            <a:ext cx="274320" cy="274320"/>
          </a:xfrm>
          <a:prstGeom prst="rect">
            <a:avLst/>
          </a:prstGeom>
        </p:spPr>
      </p:pic>
      <p:sp>
        <p:nvSpPr>
          <p:cNvPr id="15" name="تصنيف 2"/>
          <p:cNvSpPr txBox="1"/>
          <p:nvPr/>
        </p:nvSpPr>
        <p:spPr>
          <a:xfrm>
            <a:off x="6388456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60A5FA"/>
                </a:solidFill>
              </a:rPr>
              <a:t>02. استخدام البيانات</a:t>
            </a:r>
            <a:endParaRPr lang="ar-AE" sz="1400" dirty="0"/>
          </a:p>
        </p:txBody>
      </p:sp>
      <p:sp>
        <p:nvSpPr>
          <p:cNvPr id="16" name="نص 2"/>
          <p:cNvSpPr txBox="1"/>
          <p:nvPr/>
        </p:nvSpPr>
        <p:spPr>
          <a:xfrm>
            <a:off x="6388456" y="27889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AE" altLang="en-US" sz="1600" b="1" dirty="0">
                <a:solidFill>
                  <a:srgbClr val="F8FAFC"/>
                </a:solidFill>
              </a:rPr>
              <a:t>التوظيف المباشر للبيانات</a:t>
            </a:r>
            <a:endParaRPr lang="ar-AE" sz="16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معرفة كاملة بمستويات الطلاب، خطط الدعم للمواطنين وأصحاب الهمم والموهوبين.</a:t>
            </a:r>
            <a:endParaRPr lang="ar-AE" sz="1600" dirty="0"/>
          </a:p>
        </p:txBody>
      </p:sp>
      <p:sp>
        <p:nvSpPr>
          <p:cNvPr id="17" name="نسبة 2"/>
          <p:cNvSpPr txBox="1"/>
          <p:nvPr/>
        </p:nvSpPr>
        <p:spPr>
          <a:xfrm>
            <a:off x="6388456" y="4663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rgbClr val="60A5FA"/>
                </a:solidFill>
              </a:rPr>
              <a:t>90%</a:t>
            </a:r>
            <a:endParaRPr lang="ar-AE" sz="3600" dirty="0"/>
          </a:p>
        </p:txBody>
      </p:sp>
      <p:sp>
        <p:nvSpPr>
          <p:cNvPr id="18" name="مسار 2"/>
          <p:cNvSpPr/>
          <p:nvPr/>
        </p:nvSpPr>
        <p:spPr>
          <a:xfrm>
            <a:off x="6388456" y="5486400"/>
            <a:ext cx="2240280" cy="14630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شريط 2"/>
          <p:cNvSpPr/>
          <p:nvPr/>
        </p:nvSpPr>
        <p:spPr>
          <a:xfrm>
            <a:off x="6612484" y="5486400"/>
            <a:ext cx="2016252" cy="14630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بطاقة 3"/>
          <p:cNvSpPr/>
          <p:nvPr/>
        </p:nvSpPr>
        <p:spPr>
          <a:xfrm>
            <a:off x="3380080" y="178308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أيقونة 3"/>
          <p:cNvSpPr/>
          <p:nvPr/>
        </p:nvSpPr>
        <p:spPr>
          <a:xfrm>
            <a:off x="5254600" y="2011680"/>
            <a:ext cx="548640" cy="54864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pic>
        <p:nvPicPr>
          <p:cNvPr id="22" name="أيقونة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60" y="2148840"/>
            <a:ext cx="274320" cy="274320"/>
          </a:xfrm>
          <a:prstGeom prst="rect">
            <a:avLst/>
          </a:prstGeom>
        </p:spPr>
      </p:pic>
      <p:sp>
        <p:nvSpPr>
          <p:cNvPr id="23" name="تصنيف 3"/>
          <p:cNvSpPr txBox="1"/>
          <p:nvPr/>
        </p:nvSpPr>
        <p:spPr>
          <a:xfrm>
            <a:off x="3562960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34D399"/>
                </a:solidFill>
              </a:rPr>
              <a:t>03. صوت الطالب</a:t>
            </a:r>
            <a:endParaRPr lang="ar-AE" sz="1400" dirty="0"/>
          </a:p>
        </p:txBody>
      </p:sp>
      <p:sp>
        <p:nvSpPr>
          <p:cNvPr id="24" name="نص 3"/>
          <p:cNvSpPr txBox="1"/>
          <p:nvPr/>
        </p:nvSpPr>
        <p:spPr>
          <a:xfrm>
            <a:off x="3562960" y="27889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AE" altLang="en-US" sz="1600" b="1" dirty="0">
                <a:solidFill>
                  <a:srgbClr val="F8FAFC"/>
                </a:solidFill>
              </a:rPr>
              <a:t>التمكين والقيادة الذاتية</a:t>
            </a:r>
            <a:endParaRPr lang="ar-AE" sz="16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الطلاب يستطيعون شرح ماذا يتعلمون ولماذا، وكيف يقيمون أنفسهم بثقة.</a:t>
            </a:r>
            <a:endParaRPr lang="ar-AE" sz="1600" dirty="0"/>
          </a:p>
        </p:txBody>
      </p:sp>
      <p:sp>
        <p:nvSpPr>
          <p:cNvPr id="25" name="نسبة 3"/>
          <p:cNvSpPr txBox="1"/>
          <p:nvPr/>
        </p:nvSpPr>
        <p:spPr>
          <a:xfrm>
            <a:off x="3562960" y="4663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rgbClr val="34D399"/>
                </a:solidFill>
              </a:rPr>
              <a:t>88%</a:t>
            </a:r>
            <a:endParaRPr lang="ar-AE" sz="3600" dirty="0"/>
          </a:p>
        </p:txBody>
      </p:sp>
      <p:sp>
        <p:nvSpPr>
          <p:cNvPr id="26" name="مسار 3"/>
          <p:cNvSpPr/>
          <p:nvPr/>
        </p:nvSpPr>
        <p:spPr>
          <a:xfrm>
            <a:off x="3562960" y="5486400"/>
            <a:ext cx="2240280" cy="14630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شريط 3"/>
          <p:cNvSpPr/>
          <p:nvPr/>
        </p:nvSpPr>
        <p:spPr>
          <a:xfrm>
            <a:off x="3831793" y="5486400"/>
            <a:ext cx="1971446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بطاقة 4"/>
          <p:cNvSpPr/>
          <p:nvPr/>
        </p:nvSpPr>
        <p:spPr>
          <a:xfrm>
            <a:off x="554584" y="178308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أيقونة 4"/>
          <p:cNvSpPr/>
          <p:nvPr/>
        </p:nvSpPr>
        <p:spPr>
          <a:xfrm>
            <a:off x="2429104" y="2011680"/>
            <a:ext cx="548640" cy="548640"/>
          </a:xfrm>
          <a:prstGeom prst="ellipse">
            <a:avLst/>
          </a:prstGeom>
          <a:solidFill>
            <a:srgbClr val="C084FC">
              <a:alpha val="20000"/>
            </a:srgbClr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pic>
        <p:nvPicPr>
          <p:cNvPr id="30" name="أيقونة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264" y="2148840"/>
            <a:ext cx="274320" cy="274320"/>
          </a:xfrm>
          <a:prstGeom prst="rect">
            <a:avLst/>
          </a:prstGeom>
        </p:spPr>
      </p:pic>
      <p:sp>
        <p:nvSpPr>
          <p:cNvPr id="31" name="تصنيف 4"/>
          <p:cNvSpPr txBox="1"/>
          <p:nvPr/>
        </p:nvSpPr>
        <p:spPr>
          <a:xfrm>
            <a:off x="737464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rgbClr val="C084FC"/>
                </a:solidFill>
              </a:rPr>
              <a:t>04. التغذية الراجعة</a:t>
            </a:r>
            <a:endParaRPr lang="ar-AE" sz="1400" dirty="0"/>
          </a:p>
        </p:txBody>
      </p:sp>
      <p:sp>
        <p:nvSpPr>
          <p:cNvPr id="32" name="نص 4"/>
          <p:cNvSpPr txBox="1"/>
          <p:nvPr/>
        </p:nvSpPr>
        <p:spPr>
          <a:xfrm>
            <a:off x="737464" y="27889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AE" altLang="en-US" sz="1600" b="1" dirty="0">
                <a:solidFill>
                  <a:srgbClr val="F8FAFC"/>
                </a:solidFill>
              </a:rPr>
              <a:t>التصحيح الموجه بالتأثير</a:t>
            </a:r>
            <a:endParaRPr lang="ar-AE" sz="16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دفاتر وأعمال طلاب تظهر حواراً تصحيحياً مستمراً وتطوراً ملموساً.</a:t>
            </a:r>
            <a:endParaRPr lang="ar-AE" sz="1600" dirty="0"/>
          </a:p>
        </p:txBody>
      </p:sp>
      <p:sp>
        <p:nvSpPr>
          <p:cNvPr id="33" name="نسبة 4"/>
          <p:cNvSpPr txBox="1"/>
          <p:nvPr/>
        </p:nvSpPr>
        <p:spPr>
          <a:xfrm>
            <a:off x="737464" y="4663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rgbClr val="C084FC"/>
                </a:solidFill>
              </a:rPr>
              <a:t>92%</a:t>
            </a:r>
            <a:endParaRPr lang="ar-AE" sz="3600" dirty="0"/>
          </a:p>
        </p:txBody>
      </p:sp>
      <p:sp>
        <p:nvSpPr>
          <p:cNvPr id="34" name="مسار 4"/>
          <p:cNvSpPr/>
          <p:nvPr/>
        </p:nvSpPr>
        <p:spPr>
          <a:xfrm>
            <a:off x="737464" y="5486400"/>
            <a:ext cx="2240280" cy="14630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شريط 4"/>
          <p:cNvSpPr/>
          <p:nvPr/>
        </p:nvSpPr>
        <p:spPr>
          <a:xfrm>
            <a:off x="916686" y="5486400"/>
            <a:ext cx="2061058" cy="146304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1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2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1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1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rgbClr val="F8FAFC"/>
                </a:solidFill>
              </a:rPr>
              <a:t>قائمة الشواهد والأدلة المطلوب إعدادها لكل قسم</a:t>
            </a:r>
            <a:endParaRPr lang="ar-AE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ملفات ومستندات جاهزة للعرض على فريق الرقابة والتفتيش المدرسي (Inspection Evidence Portfolio)</a:t>
            </a:r>
            <a:endParaRPr lang="ar-AE" sz="1400" dirty="0"/>
          </a:p>
        </p:txBody>
      </p:sp>
      <p:sp>
        <p:nvSpPr>
          <p:cNvPr id="4" name="بطاقة 1"/>
          <p:cNvSpPr/>
          <p:nvPr/>
        </p:nvSpPr>
        <p:spPr>
          <a:xfrm>
            <a:off x="6202375" y="17830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أيقونة 1"/>
          <p:cNvSpPr/>
          <p:nvPr/>
        </p:nvSpPr>
        <p:spPr>
          <a:xfrm>
            <a:off x="10728655" y="205740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6" name="أيقونة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8675" y="2217420"/>
            <a:ext cx="320040" cy="320040"/>
          </a:xfrm>
          <a:prstGeom prst="rect">
            <a:avLst/>
          </a:prstGeom>
        </p:spPr>
      </p:pic>
      <p:sp>
        <p:nvSpPr>
          <p:cNvPr id="7" name="نص 1"/>
          <p:cNvSpPr txBox="1"/>
          <p:nvPr/>
        </p:nvSpPr>
        <p:spPr>
          <a:xfrm>
            <a:off x="6430975" y="196596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700" b="1" dirty="0">
                <a:solidFill>
                  <a:srgbClr val="F8FAFC"/>
                </a:solidFill>
              </a:rPr>
              <a:t>1. ملف تحليل البيانات والمقارنات المرجعية</a:t>
            </a:r>
            <a:endParaRPr lang="ar-AE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جدول مقارنة نتائج الاختبارات الداخلية بالمقارنات الخارجية (PISA/TIMSS/CAT4/NGRT)، وتحليل تتبع تقدم الفئات المختلفة.</a:t>
            </a:r>
            <a:endParaRPr lang="ar-AE" sz="1700" dirty="0"/>
          </a:p>
        </p:txBody>
      </p:sp>
      <p:sp>
        <p:nvSpPr>
          <p:cNvPr id="8" name="بطاقة 2"/>
          <p:cNvSpPr/>
          <p:nvPr/>
        </p:nvSpPr>
        <p:spPr>
          <a:xfrm>
            <a:off x="487375" y="17830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أيقونة 2"/>
          <p:cNvSpPr/>
          <p:nvPr/>
        </p:nvSpPr>
        <p:spPr>
          <a:xfrm>
            <a:off x="5013655" y="2057400"/>
            <a:ext cx="640080" cy="64008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pic>
        <p:nvPicPr>
          <p:cNvPr id="10" name="أيقونة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75" y="2217420"/>
            <a:ext cx="320040" cy="320040"/>
          </a:xfrm>
          <a:prstGeom prst="rect">
            <a:avLst/>
          </a:prstGeom>
        </p:spPr>
      </p:pic>
      <p:sp>
        <p:nvSpPr>
          <p:cNvPr id="11" name="نص 2"/>
          <p:cNvSpPr txBox="1"/>
          <p:nvPr/>
        </p:nvSpPr>
        <p:spPr>
          <a:xfrm>
            <a:off x="715975" y="196596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700" b="1" dirty="0">
                <a:solidFill>
                  <a:srgbClr val="F8FAFC"/>
                </a:solidFill>
              </a:rPr>
              <a:t>2. سجلات جودة التدريس والزيارات الصفية</a:t>
            </a:r>
            <a:endParaRPr lang="ar-AE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محاضر اجتماعات القسم، استمارات الملاحظة الصفية، وتبادل الزيارات ومحاضر جلسات تدقيق التقييم (Moderation).</a:t>
            </a:r>
            <a:endParaRPr lang="ar-AE" sz="1700" dirty="0"/>
          </a:p>
        </p:txBody>
      </p:sp>
      <p:sp>
        <p:nvSpPr>
          <p:cNvPr id="12" name="بطاقة 3"/>
          <p:cNvSpPr/>
          <p:nvPr/>
        </p:nvSpPr>
        <p:spPr>
          <a:xfrm>
            <a:off x="6202375" y="40690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أيقونة 3"/>
          <p:cNvSpPr/>
          <p:nvPr/>
        </p:nvSpPr>
        <p:spPr>
          <a:xfrm>
            <a:off x="10728655" y="4343400"/>
            <a:ext cx="640080" cy="64008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pic>
        <p:nvPicPr>
          <p:cNvPr id="14" name="أيقونة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675" y="4503420"/>
            <a:ext cx="320040" cy="320040"/>
          </a:xfrm>
          <a:prstGeom prst="rect">
            <a:avLst/>
          </a:prstGeom>
        </p:spPr>
      </p:pic>
      <p:sp>
        <p:nvSpPr>
          <p:cNvPr id="15" name="نص 3"/>
          <p:cNvSpPr txBox="1"/>
          <p:nvPr/>
        </p:nvSpPr>
        <p:spPr>
          <a:xfrm>
            <a:off x="6430975" y="425196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700" b="1" dirty="0">
                <a:solidFill>
                  <a:srgbClr val="F8FAFC"/>
                </a:solidFill>
              </a:rPr>
              <a:t>3. عينات أعمال الطلبة (Work Scrutiny)</a:t>
            </a:r>
            <a:endParaRPr lang="ar-AE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عينات مرتبة لثلاث مستويات (دعم - متوسط - تحدي) تظهر التمايز التكويني والتغذية الراجعة وتتبع تصحيح الطالب لأخطائه.</a:t>
            </a:r>
            <a:endParaRPr lang="ar-AE" sz="1700" dirty="0"/>
          </a:p>
        </p:txBody>
      </p:sp>
      <p:sp>
        <p:nvSpPr>
          <p:cNvPr id="16" name="بطاقة 4"/>
          <p:cNvSpPr/>
          <p:nvPr/>
        </p:nvSpPr>
        <p:spPr>
          <a:xfrm>
            <a:off x="487375" y="40690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أيقونة 4"/>
          <p:cNvSpPr/>
          <p:nvPr/>
        </p:nvSpPr>
        <p:spPr>
          <a:xfrm>
            <a:off x="5013655" y="4343400"/>
            <a:ext cx="640080" cy="640080"/>
          </a:xfrm>
          <a:prstGeom prst="ellipse">
            <a:avLst/>
          </a:prstGeom>
          <a:solidFill>
            <a:srgbClr val="C084FC">
              <a:alpha val="20000"/>
            </a:srgbClr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pic>
        <p:nvPicPr>
          <p:cNvPr id="18" name="أيقونة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675" y="4503420"/>
            <a:ext cx="320040" cy="320040"/>
          </a:xfrm>
          <a:prstGeom prst="rect">
            <a:avLst/>
          </a:prstGeom>
        </p:spPr>
      </p:pic>
      <p:sp>
        <p:nvSpPr>
          <p:cNvPr id="19" name="نص 4"/>
          <p:cNvSpPr txBox="1"/>
          <p:nvPr/>
        </p:nvSpPr>
        <p:spPr>
          <a:xfrm>
            <a:off x="715975" y="425196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ar-AE" altLang="en-US" sz="1700" b="1" dirty="0">
                <a:solidFill>
                  <a:srgbClr val="F8FAFC"/>
                </a:solidFill>
              </a:rPr>
              <a:t>4. سجلات الدعم والتمكين الشامل</a:t>
            </a:r>
            <a:endParaRPr lang="ar-AE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AE" altLang="en-US" sz="1300" dirty="0">
                <a:solidFill>
                  <a:srgbClr val="CBD5E1"/>
                </a:solidFill>
              </a:rPr>
              <a:t>خطط الدعم التربوي الفردية (IEP) لأصحاب الهمم، وخطط الإثراء والتحدي للموهوبين والمتفوقين مع أدلة المتابعة.</a:t>
            </a:r>
            <a:endParaRPr lang="ar-AE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دائرة زخرفية 1"/>
          <p:cNvSpPr/>
          <p:nvPr/>
        </p:nvSpPr>
        <p:spPr>
          <a:xfrm>
            <a:off x="8716975" y="-1645920"/>
            <a:ext cx="4754880" cy="475488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" name="دائرة زخرفية 2"/>
          <p:cNvSpPr/>
          <p:nvPr/>
        </p:nvSpPr>
        <p:spPr>
          <a:xfrm>
            <a:off x="-1463040" y="356616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دائرة الكأس"/>
          <p:cNvSpPr/>
          <p:nvPr/>
        </p:nvSpPr>
        <p:spPr>
          <a:xfrm>
            <a:off x="5638648" y="640080"/>
            <a:ext cx="914400" cy="914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أيقونة الكأس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868680"/>
            <a:ext cx="457200" cy="457200"/>
          </a:xfrm>
          <a:prstGeom prst="rect">
            <a:avLst/>
          </a:prstGeom>
        </p:spPr>
      </p:pic>
      <p:sp>
        <p:nvSpPr>
          <p:cNvPr id="6" name="الاقتباس"/>
          <p:cNvSpPr txBox="1"/>
          <p:nvPr/>
        </p:nvSpPr>
        <p:spPr>
          <a:xfrm>
            <a:off x="1097280" y="178308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800" b="1" dirty="0">
                <a:solidFill>
                  <a:srgbClr val="F59E0B"/>
                </a:solidFill>
              </a:rPr>
              <a:t>«التميز ليس حدثاً، بل هو ممارسة يومية مستمرة»</a:t>
            </a:r>
            <a:endParaRPr lang="ar-AE" sz="3800" dirty="0"/>
          </a:p>
        </p:txBody>
      </p:sp>
      <p:sp>
        <p:nvSpPr>
          <p:cNvPr id="7" name="الرسالة"/>
          <p:cNvSpPr txBox="1"/>
          <p:nvPr/>
        </p:nvSpPr>
        <p:spPr>
          <a:xfrm>
            <a:off x="1828800" y="329184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800" dirty="0">
                <a:solidFill>
                  <a:srgbClr val="CBD5E1"/>
                </a:solidFill>
              </a:rPr>
              <a:t>التطوير الحقيقي يبدأ من الإيمان بقدرة كل طالب على النمو والتقدم عند توفير البيئة الداعمة والتحفيز الذاتي المبتكر.</a:t>
            </a:r>
            <a:endParaRPr lang="ar-AE" sz="1800" dirty="0"/>
          </a:p>
        </p:txBody>
      </p:sp>
      <p:sp>
        <p:nvSpPr>
          <p:cNvPr id="8" name="بطاقة النقاش"/>
          <p:cNvSpPr txBox="1"/>
          <p:nvPr/>
        </p:nvSpPr>
        <p:spPr>
          <a:xfrm>
            <a:off x="2255368" y="443484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</a:ln>
        </p:spPr>
        <p:txBody>
          <a:bodyPr wrap="square" lIns="127000" tIns="304800" rIns="304800" bIns="1270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ar-AE" altLang="en-US" sz="1600" b="1" dirty="0">
                <a:solidFill>
                  <a:srgbClr val="F59E0B"/>
                </a:solidFill>
              </a:rPr>
              <a:t>جلسة النقاش والأسئلة (Q&amp;A)</a:t>
            </a:r>
            <a:endParaRPr lang="ar-AE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AE" altLang="en-US" sz="1400" dirty="0">
                <a:solidFill>
                  <a:srgbClr val="CBD5E1"/>
                </a:solidFill>
              </a:rPr>
              <a:t>دعوة للمعلمين ورؤساء الأقسام لمشاركة المبادرات والاستفسارات الخاصة بتطبيق المنظومة داخل القسم العلمي.</a:t>
            </a:r>
            <a:endParaRPr lang="ar-AE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GFS Excellence">
  <a:themeElements>
    <a:clrScheme name="GFS Excellenc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F59E0B"/>
      </a:accent1>
      <a:accent2>
        <a:srgbClr val="60A5FA"/>
      </a:accent2>
      <a:accent3>
        <a:srgbClr val="34D399"/>
      </a:accent3>
      <a:accent4>
        <a:srgbClr val="C084FC"/>
      </a:accent4>
      <a:accent5>
        <a:srgbClr val="D97706"/>
      </a:accent5>
      <a:accent6>
        <a:srgbClr val="94A3B8"/>
      </a:accent6>
      <a:hlink>
        <a:srgbClr val="60A5FA"/>
      </a:hlink>
      <a:folHlink>
        <a:srgbClr val="C084FC"/>
      </a:folHlink>
    </a:clrScheme>
    <a:fontScheme name="GFS Excelle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إطار التميز المدرسي - معايير التفتيش والتقييم الشامل</dc:title>
  <dc:subject>PptxGenJS Presentation</dc:subject>
  <dc:creator>GFS</dc:creator>
  <cp:lastModifiedBy>GFS</cp:lastModifiedBy>
  <cp:revision>1</cp:revision>
  <dcterms:created xsi:type="dcterms:W3CDTF">2026-10-13T19:25:27Z</dcterms:created>
  <dcterms:modified xsi:type="dcterms:W3CDTF">2026-10-13T19:25:27Z</dcterms:modified>
</cp:coreProperties>
</file>